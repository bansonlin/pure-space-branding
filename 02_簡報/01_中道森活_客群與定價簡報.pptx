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鼎弘建設 × 璞域品牌策略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中 道 森 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客群定位與售價策略簡報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壯圍鄉五權段｜27 戶｜透天 3 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本案概況：中道森活 27 戶透天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宜蘭壯圍透天市場全景（24 個月）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競爭地圖：關聯案、競品、自有戰績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鼎弘自有戰績驗證 — 三案完銷的市場意義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核心客群：三組 TA 與其消費邏輯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售價策略：三情境、戶別差異化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與宗硯大砌的協同操作建議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08　去化預估與行銷時程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09　下一步：待業主決策事項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本案概況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中道森活 — 鼎弘建設新推案基本資料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51692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案名（業主初步方向）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起造人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鼎弘健康生技有限公司　代表人 陳鼎琳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營造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宗硯建設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區位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宜蘭縣壯圍鄉五權段 789、790 等 45 筆地號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建照核準日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民國 115.01.30（114.09.24 府建都字第 1140160617 號）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規模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 戶（A~G 共 7 幢，透天獨棟）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建築型態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地上 3 層 + 屋頂層，無地下層，RC 構造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建坪／地坪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建坪 38~43 坪｜地坪 22~37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H-2 住家用（特定農業區甲種建築用地）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法定建蔽率／容積率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60% / 180%（實設 38~60% / 154~178%，均符合）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銷售方式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自售（沿用鼎弘玉田森活模式）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5169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總價守在千萬內，27 戶 18~24 個月完銷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資料來源：建照核準圖 DWG（115.02.13 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宜蘭壯圍透天市場全景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24 個月｜內政部實價登錄 2024/05/14 – 2026/05/14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4A3210"/>
                </a:solidFill>
                <a:latin typeface="Microsoft JhengHei"/>
                <a:ea typeface="Microsoft JhengHei"/>
              </a:rPr>
              <a:t>198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壯圍鄉 24 個月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中古透天成交筆數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828800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8B3A0F"/>
                </a:solidFill>
                <a:latin typeface="Microsoft JhengHei"/>
                <a:ea typeface="Microsoft JhengHe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78892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壯圍鄉 24 個月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預售透天案數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464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1828800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4A3210"/>
                </a:solidFill>
                <a:latin typeface="Microsoft JhengHei"/>
                <a:ea typeface="Microsoft JhengHei"/>
              </a:rPr>
              <a:t>21.9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78892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壯圍透天成交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單價中位（萬/坪）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69096" y="1691640"/>
            <a:ext cx="265176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9096" y="1828800"/>
            <a:ext cx="265176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8B3A0F"/>
                </a:solidFill>
                <a:latin typeface="Microsoft JhengHei"/>
                <a:ea typeface="Microsoft JhengHei"/>
              </a:rPr>
              <a:t>1,050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788920"/>
            <a:ext cx="2651760" cy="7772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壯圍透天成交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總價中位（萬元）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焦點三區（壯圍、五結、宜蘭市）中古透天成交筆數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420624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8862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區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筆數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每坪中位(萬)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P25 ~ P75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總價中位(萬)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建坪中位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屋齡中位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886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壯圍鄉 (主)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198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21.9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16.6 ~ 25.1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1,050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53.5 坪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10.0 年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3886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五結鄉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16.3 ~ 25.2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51.1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15.9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宜蘭市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546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25.2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19.6 ~ 31.0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1,200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49.2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30.8 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結論：壯圍中古透天屋齡中位僅 10 年，是宜蘭三區最年輕的市場；行情貼近五結略低於宜蘭市。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資料來源：內政部實價登錄 plvr.land.moi.gov.tw（4 季批次）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競爭地圖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依「關係」重新分類 — 關聯案 ≠ 競品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7548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關聯案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同營造廠（宗硯）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宗硯大砌系列18-透天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31 戶｜建坪 40.7｜21.2 萬/坪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總價中位 858 萬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2026.02 開賣中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戰術：對齊定價、分隔賣點，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不打價格戰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47548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真正競品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031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不同建設、千萬內同帶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古亭郡（12 戶｜19.1 萬｜870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低價帶代表，永美路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麒美紅葉（7 戶｜19.6 萬｜995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紅葉路，低單價策略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艾利永美（21 戶｜22.7 萬｜1,078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略超千萬，銷售期 8 個月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赫宇聯勤2（7 戶｜21.2 萬｜1,018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千萬內上緣參考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7548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657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4A3210"/>
                </a:solidFill>
                <a:latin typeface="Microsoft JhengHei"/>
                <a:ea typeface="Microsoft JhengHei"/>
              </a:rPr>
              <a:t>自有戰績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031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鼎弘 3 案均已完銷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0604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玉田森活1（30 戶｜20.8 萬｜930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2 年完銷，30 筆實登驗證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玉田森活2（14 戶｜22.0 萬｜1,513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建材升級拉高單價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學進賦（10 戶｜19.9 萬｜587 萬）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  ↳ 公寓型，五結二結</a:t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/>
            </a:r>
          </a:p>
          <a:p>
            <a:pPr>
              <a:lnSpc>
                <a:spcPct val="145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三案皆完銷 = 品牌資產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資料來源：內政部實價登錄 + 業主提供推案總表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鼎弘自有戰績是最好的市場驗證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三案皆完銷｜玉田森活1 模式可複製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28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/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玉田森活1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玉田森活2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學進賦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區域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礁溪鄉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礁溪鄉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五結鄉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類別／型態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預售透天 3 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預售透天 4 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預售公寓 5 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14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10 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建坪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42~49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65~70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29~30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格局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實登中位總價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930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—（591：1,468~1,558）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實登中位單價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20.8 萬/坪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—（591：22 萬）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—（591：19.9 萬）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去化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 年完銷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銷售方式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1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本案模型可直接對標：玉田森活1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492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本案建坪 38~43 坪 &lt; 玉田森活1 42~49 坪 → 相同單價下，總價自然更低，守千萬內有把握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本案 27 戶 ≈ 玉田森活1 30 戶 → 規模相近，去化模型可直接套用</a:t>
            </a:r>
          </a:p>
          <a:p>
            <a:pPr>
              <a:lnSpc>
                <a:spcPct val="13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自售 + 4 房 + 透天 3 層 = 鼎弘已驗證的「壯圍/礁溪首購升級」配方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資料來源：業主提供推案總表（591 × 政府實登 × 房地王交叉）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核心客群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從鼎弘自有戰績反推 — 三組目標客群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8463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TA1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宜蘭返鄉換屋族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主力 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30~45 歲，已婚已育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雙北或南部工作 5~10 年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家庭年收 100~150 萬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想回宜蘭照顧長輩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預算 800~950 萬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在乎：4 房、學區、爸媽近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3657600" cy="4846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TA2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壯圍/礁溪在地二代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主力 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063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35~50 歲，宜蘭土生土長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已有第一房（公寓/老透天）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想換新成屋透天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家庭年收 80~130 萬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預算 850~1,000 萬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在乎：通勤、停車、生活機能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657600" cy="48463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657600" cy="8686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TA3</a:t>
            </a:r>
          </a:p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雙北退休置產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輔助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63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50+ 歲，子女已成年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北部退休或半退休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想回宜蘭養老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資產雄厚不貸款居多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預算 900~1,000 萬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在乎：好天氣、寧靜、面寬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客群推算依據：壯圍鄉透天交易屋齡中位 10 年 + 鼎弘玉田森活 1 / 2 期客層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05a　客群 × 賣點對應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每組 TA 應該被哪一句話打中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287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客群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他們在意的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本案能給的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主打 message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TA1 返鄉換屋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房、爸媽通勤近、子女學區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 房格局、壯圍離宜蘭市 15 分鐘、近五權國小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「回宜蘭，4 房一次到位」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TA2 在地二代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通勤、生活機能、停車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壯圍郊區但近台 2 線、自家前院停車、千萬有找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「不到千萬，住進新成屋透天」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TA3 退休置產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寧靜、面寬感、不要太密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 戶分 7 幢、外牆退縮、屋頂層可作休憩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「在繁華之中收藏寧靜」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1">
                <a:solidFill>
                  <a:srgbClr val="4A3210"/>
                </a:solidFill>
                <a:latin typeface="Microsoft JhengHei"/>
                <a:ea typeface="Microsoft JhengHei"/>
              </a:rPr>
              <a:t>三組 message 對應三個媒體投放路線（詳第 11 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Message 設計：呼應業主主視覺文案「在繁華之中收藏寧靜，在日常之間遇見家的溫度」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售價策略 — 三情境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三情境總價皆守在千萬內｜建議主力 21 萬/坪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9436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情境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每坪(萬)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40 坪總價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43 坪總價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對標案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評估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943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保守（衝去化）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19.5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780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839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古亭郡、麒美紅葉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不建議：破壞宗硯定價、影響社群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943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★ 建議主力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21.0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840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903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宗硯大砌、自有玉田1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對齊關聯案、複製自有戰績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5943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進取（品牌溢價）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880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946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玉田森活2、艾利永美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可在好區位戶嘗試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8B3A0F"/>
                </a:solidFill>
                <a:latin typeface="Microsoft JhengHei"/>
                <a:ea typeface="Microsoft JhengHei"/>
              </a:rPr>
              <a:t>為什麼推薦 21 萬/坪？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對齊宗硯大砌 21.2 ±0.5 萬/坪，與關聯案不打架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對標鼎弘玉田森活1 實登 20.8 萬/坪（已完銷）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對標壯圍中古近新成屋 22.7 萬/坪（屋齡 ≤5 年、42 筆）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27 戶 × 平均 41 坪 × 21 萬 = 預估全案銷售總額 約 2.32 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資料截止：2026-05-14｜口徑：每坪 = 3.305785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06a　戶別差異化定價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27 戶 × 7 幢｜地坪 72~123 m² 差異大，齊頭一價會虧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33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戶型分群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代表戶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地坪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建議單價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預估總價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大地坪角間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37 坪 (123 m²)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22.0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≈ 990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中型角間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E1、D1、E2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27~33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≈ 925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標準大戶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F4、G1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25~30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21.5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≈ 925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標準中戶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B1~B7、C1~C3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22~23 坪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21.0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≈ 870 萬</a:t>
                      </a:r>
                    </a:p>
                  </a:txBody>
                  <a:tcPr>
                    <a:solidFill>
                      <a:srgbClr val="F5CB4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A1~A3 入口戶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A1、A2、A3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22~29 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20.5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≈ 850 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預估全案均價 870~900 萬｜27 戶總銷 2.30~2.45 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屋頂層、邊間、雙面採光的戶可再加 3~5% 溢價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前 5 戶（公開前內部讓利）可低 0.5~1 萬/坪 — 是鼎弘玉田1 的去化技巧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戶別細節依 DWG（A1~G3 共 27 戶），地坪數依「建蔽率 / 建築面積」反推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與宗硯大砌的協同操作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同營造、同價帶、同客層 — 對齊單價、分隔賣點、錯開時程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3891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94960" cy="438912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宗硯大砌系列18-透天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31 戶｜21.2 萬/坪｜858 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賣點：「最大量體 + 最低單價」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進度：2026 Q2 衝刺中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強項：價格戰、宗硯品牌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弱項：宗硯首次自推、無自售戰績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中道森活（本案）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394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27 戶｜21 萬/坪｜870~900 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賣點：「鼎弘 3 案完銷 + 自售品牌信譽」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進度：2026 Q3~Q4 後段推（錯開 1~2 季）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強項：鼎弘玉田森活完銷實績、自售議價彈性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弱項：戶數較少、建坪偏小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4A3210"/>
                </a:solidFill>
                <a:latin typeface="Microsoft JhengHei"/>
                <a:ea typeface="Microsoft JhengHei"/>
              </a:rPr>
              <a:t>兩案合 58 戶≈壯圍 24 個月透天市場 29%；錯開時程是降低自相競爭的關鍵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本頁前提：宗硯大砌與本案為同營造廠關聯案（業主補充）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去化預估與行銷時程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對標玉田森活1（30 戶 / 2 年完銷）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4A3210"/>
                </a:solidFill>
                <a:latin typeface="Microsoft JhengHei"/>
                <a:ea typeface="Microsoft JhengHei"/>
              </a:rPr>
              <a:t>建議 18~24 個月完銷的時程帶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51760" cy="3657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Pre-launch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預備期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2286000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•定案、命名、CI 完成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•接待中心籌備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•VIP 名單預埋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2103120"/>
            <a:ext cx="2651760" cy="3657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24028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Phase 1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公開預售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301752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3520440"/>
            <a:ext cx="2286000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•首批 8~10 戶（A、B 幢）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•最強優惠／前 5 戶讓利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•目標 3 個月去化 30%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8464" y="2103120"/>
            <a:ext cx="2651760" cy="365760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224028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Phase 2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結構成型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301752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Q1~Q2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520440"/>
            <a:ext cx="2286000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•中段 10 戶（C、D 幢）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•主視覺 2.0、實品屋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•目標 6 個月再去化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69096" y="2103120"/>
            <a:ext cx="2651760" cy="36576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9096" y="2240280"/>
            <a:ext cx="2651760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Phase 3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完工交屋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9096" y="3017520"/>
            <a:ext cx="26517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Q3~Q4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1976" y="3520440"/>
            <a:ext cx="2286000" cy="21031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•尾段 8~9 戶（E、F、G 幢）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•品牌溢價、口碑帶單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4A3210"/>
                </a:solidFill>
                <a:latin typeface="Microsoft JhengHei"/>
                <a:ea typeface="Microsoft JhengHei"/>
              </a:rPr>
              <a:t>•目標 6 個月完銷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全案 27 戶 / 預估 18~24 個月完銷｜銷售總額 2.30~2.45 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節奏設計參考：玉田森活1 = 22 年 15 戶 + 23 年 14 戶 + 24 年完銷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下一步 — 待業主決策事項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兩週內可確認的關鍵 5 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#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決策項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璞域建議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業主回覆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案名定案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「中道森活」+ 副標（詳命名提案簡報）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主力單價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21 萬/坪（與宗硯對齊）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戶別定價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依地坪/區位 20.5~22 萬分級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推案時程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Q4 2026 公開，2027 Q4 完銷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向宗硯輔銷取得 大砌 18 內部數據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成交曲線、客層、議價底線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_______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後續可同步處理：人口/家戶/所得補件、商標檢索、命名最終定案、CI 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璞域品牌策略｜crazywofes@gmail.com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