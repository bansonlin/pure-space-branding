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A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4A3210"/>
                </a:solidFill>
                <a:latin typeface="Microsoft JhengHei"/>
                <a:ea typeface="Microsoft JhengHei"/>
              </a:rPr>
              <a:t>鼎弘建設 × 璞域品牌策略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>
                <a:solidFill>
                  <a:srgbClr val="4A3210"/>
                </a:solidFill>
                <a:latin typeface="Microsoft JhengHei"/>
                <a:ea typeface="Microsoft JhengHei"/>
              </a:rPr>
              <a:t>中 道 森 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4A3210"/>
                </a:solidFill>
                <a:latin typeface="Microsoft JhengHei"/>
                <a:ea typeface="Microsoft JhengHei"/>
              </a:rPr>
              <a:t>機能、光束圖與故事簡報　Location Story &amp; Amenity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4754880"/>
            <a:ext cx="914400" cy="1905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壯圍鄉五權段｜27 戶｜透天 3 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12648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簡報目錄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01　基地地理脈絡：宜蘭縣壯圍鄉五權段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02　機能圈分層概念 — 5 圈生活範圍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03　第 1 圈：步行 5 分鐘（生活基本盤）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04　第 2 圈：開車 5 分鐘（社區生活圈）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05　第 3 圈：開車 10 分鐘（城際生活圈）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06　第 4 圈：開車 20 分鐘（跨鄉鎮）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07　第 5 圈：高速公路對外（雪山隧道）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08　學區深掘：公立國小、國中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09　賣場 / 超市 / 便利商店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10　醫療資源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11　觀光景點（假日生活圈）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12　光束圖（核心視覺）— 完整機能盤點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13　主力客群故事：林先生的一天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14　下一步：實地踏勘與圖像化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01　基地地理脈絡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宜蘭縣壯圍鄉五權段 789、790 等 45 筆地號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828800" cy="11887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縣域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8288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宜蘭縣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691640"/>
            <a:ext cx="9235440" cy="11887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103120"/>
            <a:ext cx="886968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>
              <a:lnSpc>
                <a:spcPct val="140000"/>
              </a:lnSpc>
            </a:pPr>
            <a:r>
              <a:rPr sz="1300" b="0">
                <a:solidFill>
                  <a:srgbClr val="4A3210"/>
                </a:solidFill>
                <a:latin typeface="Microsoft JhengHei"/>
                <a:ea typeface="Microsoft JhengHei"/>
              </a:rPr>
              <a:t>全縣人口約 45 萬｜面積 2,143 km²｜雪山隧道通車後台北通勤圈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63240"/>
            <a:ext cx="1828800" cy="11887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鄉鎮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18288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壯圍鄉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063240"/>
            <a:ext cx="9235440" cy="11887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3474720"/>
            <a:ext cx="886968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>
              <a:lnSpc>
                <a:spcPct val="140000"/>
              </a:lnSpc>
            </a:pPr>
            <a:r>
              <a:rPr sz="1300" b="0">
                <a:solidFill>
                  <a:srgbClr val="4A3210"/>
                </a:solidFill>
                <a:latin typeface="Microsoft JhengHei"/>
                <a:ea typeface="Microsoft JhengHei"/>
              </a:rPr>
              <a:t>人口約 23,000｜近宜蘭市東側｜居住純度高｜農業 + 住宅混合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34840"/>
            <a:ext cx="1828800" cy="11887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地段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83479"/>
            <a:ext cx="18288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五權段（中央路三段沿線）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4434840"/>
            <a:ext cx="9235440" cy="11887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4846320"/>
            <a:ext cx="886968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>
              <a:lnSpc>
                <a:spcPct val="140000"/>
              </a:lnSpc>
            </a:pPr>
            <a:r>
              <a:rPr sz="1300" b="0">
                <a:solidFill>
                  <a:srgbClr val="4A3210"/>
                </a:solidFill>
                <a:latin typeface="Microsoft JhengHei"/>
                <a:ea typeface="Microsoft JhengHei"/>
              </a:rPr>
              <a:t>近鄉中心、近國道 5 壯圍交流道｜南北五路、忠孝一路鄰接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地理優勢：距國道 5 壯圍交流道 4 km｜距宜蘭市區 6~8 km｜距台北 70 km / 50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資料來源：DWG 建照圖、戶政司鄉鎮人口統計（業主請以實際座標核校距離）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2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02　機能圈分層概念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依「步行 → 開車 → 高速公路」分為 5 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240280" cy="411480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2402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圈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24028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步行 5 分鐘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22402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</a:rPr>
              <a:t>0~1 km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1580" y="3474720"/>
            <a:ext cx="73152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703320"/>
            <a:ext cx="1965960" cy="2011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50" b="0">
                <a:solidFill>
                  <a:srgbClr val="FFFFFF"/>
                </a:solidFill>
                <a:latin typeface="Microsoft JhengHei"/>
                <a:ea typeface="Microsoft JhengHei"/>
              </a:rPr>
              <a:t>便利商店、傳統市場、近鄰社區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691640"/>
            <a:ext cx="2240280" cy="41148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828800"/>
            <a:ext cx="22402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圈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240280"/>
            <a:ext cx="224028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開車 5 分鐘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926080"/>
            <a:ext cx="22402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1~3 km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3300" y="3474720"/>
            <a:ext cx="731520" cy="127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3703320"/>
            <a:ext cx="1965960" cy="2011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50" b="0">
                <a:solidFill>
                  <a:srgbClr val="4A3210"/>
                </a:solidFill>
                <a:latin typeface="Microsoft JhengHei"/>
                <a:ea typeface="Microsoft JhengHei"/>
              </a:rPr>
              <a:t>學區、衛生所、全聯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691640"/>
            <a:ext cx="2240280" cy="4114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828800"/>
            <a:ext cx="22402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圈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240280"/>
            <a:ext cx="224028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開車 10 分鐘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926080"/>
            <a:ext cx="22402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3~5 km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5020" y="3474720"/>
            <a:ext cx="731520" cy="127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3703320"/>
            <a:ext cx="1965960" cy="2011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50" b="0">
                <a:solidFill>
                  <a:srgbClr val="4A3210"/>
                </a:solidFill>
                <a:latin typeface="Microsoft JhengHei"/>
                <a:ea typeface="Microsoft JhengHei"/>
              </a:rPr>
              <a:t>壯圍鄉公所、家樂福、國道交流道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1691640"/>
            <a:ext cx="22402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1828800"/>
            <a:ext cx="22402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圈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240280"/>
            <a:ext cx="224028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開車 20 分鐘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926080"/>
            <a:ext cx="22402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5~10 km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06740" y="3474720"/>
            <a:ext cx="731520" cy="127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3703320"/>
            <a:ext cx="1965960" cy="2011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50" b="0">
                <a:solidFill>
                  <a:srgbClr val="4A3210"/>
                </a:solidFill>
                <a:latin typeface="Microsoft JhengHei"/>
                <a:ea typeface="Microsoft JhengHei"/>
              </a:rPr>
              <a:t>宜蘭市區、火車站、夢時代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0" y="1691640"/>
            <a:ext cx="2240280" cy="4114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1828800"/>
            <a:ext cx="22402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圈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240280"/>
            <a:ext cx="224028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高速公路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926080"/>
            <a:ext cx="22402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70 km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38460" y="3474720"/>
            <a:ext cx="731520" cy="127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1240" y="3703320"/>
            <a:ext cx="1965960" cy="2011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50" b="0">
                <a:solidFill>
                  <a:srgbClr val="4A3210"/>
                </a:solidFill>
                <a:latin typeface="Microsoft JhengHei"/>
                <a:ea typeface="Microsoft JhengHei"/>
              </a:rPr>
              <a:t>台北（雪山隧道 50 分鐘）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下五頁逐一展開每一圈的具體機能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3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03　第 1 圈　步行 5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0~1 km｜出門即達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機能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類別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距離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車程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7-11 壯圍門市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便利商店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1.0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 分鐘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全家 五權店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便利商店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 分鐘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地方早餐店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傳統早餐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0.5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步行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鄰里公園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綠地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0.3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步行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7764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圈 1 = 不用開車的日常 — 出門有早餐、有便利商店、有公園 = 生活基本盤穩固。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距離 / 車程為合理估算，實際依路況與業主踏勘為準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4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04　第 2 圈　開車 5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1~3 km｜社區生活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機能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類別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距離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車程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公館國小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學區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1.5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 分鐘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壯圍國小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學區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 分鐘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過嶺國小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學區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2.5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 分鐘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全聯 壯圍店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超市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2.5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 分鐘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壯圍傳統市場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市場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2.0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 分鐘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壯圍鄉衛生所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醫療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2.5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 分鐘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壯圍沙丘 旅服中心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景點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3.0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 分鐘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圈 2 = 三所國小都在 5 分鐘車程內，是壯圍少見的「跨學區彈性區位」。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距離 / 車程為合理估算，實際依路況與業主踏勘為準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5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05　第 3 圈　開車 10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3~5 km｜城際生活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機能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類別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距離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車程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國道 5 壯圍交流道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對外交通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4.0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 分鐘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永鎮海濱公園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景點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4.5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 分鐘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全聯 宜蘭東港店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超市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5.0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 分鐘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壯圍國中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學區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 分鐘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7764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圈 3 = 進入國道 5 只要 8 分鐘，這是與宜蘭市區、雙北通勤的關鍵節點。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距離 / 車程為合理估算，實際依路況與業主踏勘為準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6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06　第 4 圈　開車 20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5~10 km｜跨鄉鎮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機能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類別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距離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車程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宜蘭運動公園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運動景點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6.0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12 分鐘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中華國中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宜蘭市國中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12 分鐘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宜蘭夢時代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百貨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6.5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13 分鐘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國立陽明交大附醫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醫院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14 分鐘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宜蘭火車站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火車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7.0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13 分鐘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宜蘭轉運站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客運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7.5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14 分鐘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家樂福 宜蘭店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量販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8.0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15 分鐘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國立傳藝中心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景點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18 分鐘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圈 4 = 宜蘭市區的火車、客運、購物、醫療皆 &lt; 15 分鐘 — 「住壯圍、用宜蘭市」。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距離 / 車程為合理估算，實際依路況與業主踏勘為準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7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07　第 5 圈　高速公路對外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10 ~ 70 km｜對外連結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機能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類別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距離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車程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羅東博愛醫院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醫院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12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 分鐘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礁溪溫泉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週末景點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13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 分鐘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羅東夜市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景點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11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 分鐘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龜山島賞鯨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景點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搭船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台北車站（雪隧）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對外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50 分鐘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圈 5 = 雙北 50 分鐘可達 — 雪隧讓壯圍成為合理的「半遠距通勤」選項。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距離 / 車程為合理估算，實際依路況與業主踏勘為準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8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08　學區深掘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公立國小、國中｜對 TA1 返鄉換屋族最關鍵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572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學校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公私立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距離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車程 / 步行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學區歸屬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對應 TA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公館國小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公立國小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1.5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 分鐘車｜走 18 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學區內或邊界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 / TA2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壯圍國小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公立國小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 分鐘車｜走 25 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鄰近學區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 / TA2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過嶺國小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公立國小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2.5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 分鐘車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另一學區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 / TA2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壯圍國中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公立國中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 分鐘車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全鄉合一國中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中華國中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公立國中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6.0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12 分鐘車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宜蘭市可越區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高端 TA1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572000"/>
            <a:ext cx="11247120" cy="173736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學區優勢 — 給 TA1 返鄉換屋族的最大誘因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3 所國小都在 6 分鐘車程內 — 全壯圍唯有少數區位有此條件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壯圍國中為全鄉唯一公立國中 — 連帶學區不需越區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宜蘭市中華國中越區也可達（12 分鐘）— 高端教育選項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對返鄉客而言：「孩子上學的問題不用擔心」就是最高訴求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學區歸屬待業主向宜蘭縣教育處查證最新版（國小學區圖每 3 年更新）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9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09　賣場 / 超市 / 便利商店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日常採購 → 週末大採購一站到位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0005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商家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類別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距離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車程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4000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7-11 壯圍門市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便利商店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1.0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 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宵夜、繳費、咖啡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000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全家 五權店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便利商店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 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宵夜、領貨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全聯 壯圍店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超市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2.5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 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日常採購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000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壯圍傳統市場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市場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 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新鮮蔬果、肉品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全聯 宜蘭東港店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超市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5.0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 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中型採購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000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宜蘭夢時代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百貨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6.5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13 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週末逛街、餐廳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家樂福 宜蘭店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量販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8.0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15 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週末大採購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結論：1 km 內有便利商店｜2.5 km 內有全聯與市場｜8 km 內有量販與百貨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10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10　醫療資源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從基本診療到區域醫院 — 對換屋族與退休族同樣重要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715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醫療機構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層級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距離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車程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壯圍鄉衛生所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基層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2.5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 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疫苗、家醫、長者照護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國立陽明交大附醫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區域醫院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14 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宜蘭最大公立、24h 急診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羅東博愛醫院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區域醫院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12.0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 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重症、專科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醫療優勢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陽明交大附醫 14 分鐘內可達 — 是宜蘭最大公立醫院，急診全天候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羅東博愛醫院 20 分鐘 — 全宜蘭最強的私立區域醫院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對 TA1（爸媽就近照顧）+ TA3（自己退休）皆是必要條件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與雙北「醫療密集 vs 通勤遠」對比，這個距離已是「夠近又夠便宜」的甜蜜點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11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11　觀光景點（假日生活圈）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從步行可達的沙丘到 20 分鐘的羅東 — 假日不用出遠門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1435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景點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類別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距離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車程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假日用途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壯圍沙丘 旅服中心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建築/地景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3.0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 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黃聲遠設計，地標必訪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永鎮海濱公園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海邊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4.5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 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親子戲沙、看海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宜蘭運動公園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運動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6.0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12 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慢跑、籃球、騎車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國立傳藝中心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文化園區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18 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傳統藝術主題、年節最熱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羅東夜市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夜市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11.0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 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週末晚餐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礁溪溫泉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溫泉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13.0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 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週末泡湯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龜山島賞鯨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海上活動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20.0 km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搭船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夏天賞鯨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「住壯圍 = 假日都不用出宜蘭」 — 是說服 TA3 退休族的關鍵賣點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12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12　光束圖 — 完整機能盤點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以基地為中心，5 圈距離環、8 方位、26 個機能點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4389120" y="1005840"/>
            <a:ext cx="0" cy="3017520"/>
          </a:xfrm>
          <a:prstGeom prst="line">
            <a:avLst/>
          </a:prstGeom>
          <a:ln w="635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389120" y="1889651"/>
            <a:ext cx="2133708" cy="2133709"/>
          </a:xfrm>
          <a:prstGeom prst="line">
            <a:avLst/>
          </a:prstGeom>
          <a:ln w="635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023360"/>
            <a:ext cx="3017520" cy="0"/>
          </a:xfrm>
          <a:prstGeom prst="line">
            <a:avLst/>
          </a:prstGeom>
          <a:ln w="635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389120" y="4023360"/>
            <a:ext cx="2133708" cy="2133708"/>
          </a:xfrm>
          <a:prstGeom prst="line">
            <a:avLst/>
          </a:prstGeom>
          <a:ln w="635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4023360"/>
            <a:ext cx="0" cy="3017520"/>
          </a:xfrm>
          <a:prstGeom prst="line">
            <a:avLst/>
          </a:prstGeom>
          <a:ln w="635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255411" y="4023360"/>
            <a:ext cx="2133709" cy="2133708"/>
          </a:xfrm>
          <a:prstGeom prst="line">
            <a:avLst/>
          </a:prstGeom>
          <a:ln w="635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371600" y="4023360"/>
            <a:ext cx="3017520" cy="0"/>
          </a:xfrm>
          <a:prstGeom prst="line">
            <a:avLst/>
          </a:prstGeom>
          <a:ln w="635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2255411" y="1889651"/>
            <a:ext cx="2133709" cy="2133709"/>
          </a:xfrm>
          <a:prstGeom prst="line">
            <a:avLst/>
          </a:prstGeom>
          <a:ln w="635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86200" y="3520440"/>
            <a:ext cx="1005840" cy="1005840"/>
          </a:xfrm>
          <a:prstGeom prst="ellipse">
            <a:avLst/>
          </a:prstGeom>
          <a:noFill/>
          <a:ln w="9525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3355848"/>
            <a:ext cx="45720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A0A0A0"/>
                </a:solidFill>
                <a:latin typeface="Microsoft JhengHei"/>
                <a:ea typeface="Microsoft JhengHei"/>
              </a:rPr>
              <a:t>1km</a:t>
            </a:r>
          </a:p>
        </p:txBody>
      </p:sp>
      <p:sp>
        <p:nvSpPr>
          <p:cNvPr id="16" name="Oval 15"/>
          <p:cNvSpPr/>
          <p:nvPr/>
        </p:nvSpPr>
        <p:spPr>
          <a:xfrm>
            <a:off x="3291839" y="2926080"/>
            <a:ext cx="2194560" cy="2194560"/>
          </a:xfrm>
          <a:prstGeom prst="ellipse">
            <a:avLst/>
          </a:prstGeom>
          <a:noFill/>
          <a:ln w="5080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61488"/>
            <a:ext cx="45720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A0A0A0"/>
                </a:solidFill>
                <a:latin typeface="Microsoft JhengHei"/>
                <a:ea typeface="Microsoft JhengHei"/>
              </a:rPr>
              <a:t>3km</a:t>
            </a:r>
          </a:p>
        </p:txBody>
      </p:sp>
      <p:sp>
        <p:nvSpPr>
          <p:cNvPr id="18" name="Oval 17"/>
          <p:cNvSpPr/>
          <p:nvPr/>
        </p:nvSpPr>
        <p:spPr>
          <a:xfrm>
            <a:off x="2697479" y="2331720"/>
            <a:ext cx="3383280" cy="3383280"/>
          </a:xfrm>
          <a:prstGeom prst="ellipse">
            <a:avLst/>
          </a:prstGeom>
          <a:noFill/>
          <a:ln w="5080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2167128"/>
            <a:ext cx="45720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A0A0A0"/>
                </a:solidFill>
                <a:latin typeface="Microsoft JhengHei"/>
                <a:ea typeface="Microsoft JhengHei"/>
              </a:rPr>
              <a:t>5km</a:t>
            </a:r>
          </a:p>
        </p:txBody>
      </p:sp>
      <p:sp>
        <p:nvSpPr>
          <p:cNvPr id="20" name="Oval 19"/>
          <p:cNvSpPr/>
          <p:nvPr/>
        </p:nvSpPr>
        <p:spPr>
          <a:xfrm>
            <a:off x="2057400" y="1691640"/>
            <a:ext cx="4663440" cy="4663440"/>
          </a:xfrm>
          <a:prstGeom prst="ellipse">
            <a:avLst/>
          </a:prstGeom>
          <a:noFill/>
          <a:ln w="5080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1527048"/>
            <a:ext cx="45720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A0A0A0"/>
                </a:solidFill>
                <a:latin typeface="Microsoft JhengHei"/>
                <a:ea typeface="Microsoft JhengHei"/>
              </a:rPr>
              <a:t>10km</a:t>
            </a:r>
          </a:p>
        </p:txBody>
      </p:sp>
      <p:sp>
        <p:nvSpPr>
          <p:cNvPr id="22" name="Oval 21"/>
          <p:cNvSpPr/>
          <p:nvPr/>
        </p:nvSpPr>
        <p:spPr>
          <a:xfrm>
            <a:off x="1371600" y="1005840"/>
            <a:ext cx="6035040" cy="6035040"/>
          </a:xfrm>
          <a:prstGeom prst="ellipse">
            <a:avLst/>
          </a:prstGeom>
          <a:noFill/>
          <a:ln w="9525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841248"/>
            <a:ext cx="45720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A0A0A0"/>
                </a:solidFill>
                <a:latin typeface="Microsoft JhengHei"/>
                <a:ea typeface="Microsoft JhengHei"/>
              </a:rPr>
              <a:t>30km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758952"/>
            <a:ext cx="274320" cy="21945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555555"/>
                </a:solidFill>
                <a:latin typeface="Microsoft JhengHei"/>
                <a:ea typeface="Microsoft JhengHei"/>
              </a:rP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913632"/>
            <a:ext cx="274320" cy="21945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555555"/>
                </a:solidFill>
                <a:latin typeface="Microsoft JhengHei"/>
                <a:ea typeface="Microsoft JhengHei"/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59" y="7068312"/>
            <a:ext cx="274320" cy="21945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555555"/>
                </a:solidFill>
                <a:latin typeface="Microsoft JhengHei"/>
                <a:ea typeface="Microsoft JhengHei"/>
              </a:rPr>
              <a:t>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913632"/>
            <a:ext cx="274320" cy="21945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555555"/>
                </a:solidFill>
                <a:latin typeface="Microsoft JhengHei"/>
                <a:ea typeface="Microsoft JhengHei"/>
              </a:rPr>
              <a:t>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3858768"/>
            <a:ext cx="329184" cy="329184"/>
          </a:xfrm>
          <a:prstGeom prst="rect">
            <a:avLst/>
          </a:prstGeom>
          <a:solidFill>
            <a:srgbClr val="8B3A0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4224528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8B3A0F"/>
                </a:solidFill>
                <a:latin typeface="Microsoft JhengHei"/>
                <a:ea typeface="Microsoft JhengHei"/>
              </a:rPr>
              <a:t>中道森活</a:t>
            </a:r>
          </a:p>
        </p:txBody>
      </p:sp>
      <p:sp>
        <p:nvSpPr>
          <p:cNvPr id="30" name="Oval 29"/>
          <p:cNvSpPr/>
          <p:nvPr/>
        </p:nvSpPr>
        <p:spPr>
          <a:xfrm>
            <a:off x="3623061" y="3550158"/>
            <a:ext cx="146304" cy="146304"/>
          </a:xfrm>
          <a:prstGeom prst="ellipse">
            <a:avLst/>
          </a:prstGeom>
          <a:solidFill>
            <a:srgbClr val="8B3A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97181" y="3550158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壯圍國小</a:t>
            </a:r>
          </a:p>
        </p:txBody>
      </p:sp>
      <p:sp>
        <p:nvSpPr>
          <p:cNvPr id="32" name="Oval 31"/>
          <p:cNvSpPr/>
          <p:nvPr/>
        </p:nvSpPr>
        <p:spPr>
          <a:xfrm>
            <a:off x="3990212" y="3385983"/>
            <a:ext cx="146304" cy="146304"/>
          </a:xfrm>
          <a:prstGeom prst="ellipse">
            <a:avLst/>
          </a:prstGeom>
          <a:solidFill>
            <a:srgbClr val="8B3A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64333" y="3385983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公館國小</a:t>
            </a:r>
          </a:p>
        </p:txBody>
      </p:sp>
      <p:sp>
        <p:nvSpPr>
          <p:cNvPr id="34" name="Oval 33"/>
          <p:cNvSpPr/>
          <p:nvPr/>
        </p:nvSpPr>
        <p:spPr>
          <a:xfrm>
            <a:off x="5137557" y="4424553"/>
            <a:ext cx="146304" cy="146304"/>
          </a:xfrm>
          <a:prstGeom prst="ellipse">
            <a:avLst/>
          </a:prstGeom>
          <a:solidFill>
            <a:srgbClr val="8B3A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29581" y="4424553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過嶺國小</a:t>
            </a:r>
          </a:p>
        </p:txBody>
      </p:sp>
      <p:sp>
        <p:nvSpPr>
          <p:cNvPr id="36" name="Oval 35"/>
          <p:cNvSpPr/>
          <p:nvPr/>
        </p:nvSpPr>
        <p:spPr>
          <a:xfrm>
            <a:off x="4315968" y="5641848"/>
            <a:ext cx="146304" cy="146304"/>
          </a:xfrm>
          <a:prstGeom prst="ellipse">
            <a:avLst/>
          </a:prstGeom>
          <a:solidFill>
            <a:srgbClr val="8B3A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39" y="5641848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壯圍國中</a:t>
            </a:r>
          </a:p>
        </p:txBody>
      </p:sp>
      <p:sp>
        <p:nvSpPr>
          <p:cNvPr id="38" name="Oval 37"/>
          <p:cNvSpPr/>
          <p:nvPr/>
        </p:nvSpPr>
        <p:spPr>
          <a:xfrm>
            <a:off x="2740099" y="4860036"/>
            <a:ext cx="146304" cy="146304"/>
          </a:xfrm>
          <a:prstGeom prst="ellipse">
            <a:avLst/>
          </a:prstGeom>
          <a:solidFill>
            <a:srgbClr val="8B3A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14219" y="4860036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中華國中</a:t>
            </a:r>
          </a:p>
        </p:txBody>
      </p:sp>
      <p:sp>
        <p:nvSpPr>
          <p:cNvPr id="40" name="Oval 39"/>
          <p:cNvSpPr/>
          <p:nvPr/>
        </p:nvSpPr>
        <p:spPr>
          <a:xfrm>
            <a:off x="3424491" y="4274679"/>
            <a:ext cx="146304" cy="146304"/>
          </a:xfrm>
          <a:prstGeom prst="ellipse">
            <a:avLst/>
          </a:prstGeom>
          <a:solidFill>
            <a:srgbClr val="4A321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98611" y="4274679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全聯 壯圍店</a:t>
            </a:r>
          </a:p>
        </p:txBody>
      </p:sp>
      <p:sp>
        <p:nvSpPr>
          <p:cNvPr id="42" name="Oval 41"/>
          <p:cNvSpPr/>
          <p:nvPr/>
        </p:nvSpPr>
        <p:spPr>
          <a:xfrm>
            <a:off x="2850964" y="4796028"/>
            <a:ext cx="146304" cy="146304"/>
          </a:xfrm>
          <a:prstGeom prst="ellipse">
            <a:avLst/>
          </a:prstGeom>
          <a:solidFill>
            <a:srgbClr val="4A321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25084" y="4796028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全聯 宜蘭東港店</a:t>
            </a:r>
          </a:p>
        </p:txBody>
      </p:sp>
      <p:sp>
        <p:nvSpPr>
          <p:cNvPr id="44" name="Oval 43"/>
          <p:cNvSpPr/>
          <p:nvPr/>
        </p:nvSpPr>
        <p:spPr>
          <a:xfrm>
            <a:off x="3820688" y="3862876"/>
            <a:ext cx="146304" cy="146304"/>
          </a:xfrm>
          <a:prstGeom prst="ellipse">
            <a:avLst/>
          </a:prstGeom>
          <a:solidFill>
            <a:srgbClr val="4A321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94808" y="3862876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7-11 壯圍門市</a:t>
            </a:r>
          </a:p>
        </p:txBody>
      </p:sp>
      <p:sp>
        <p:nvSpPr>
          <p:cNvPr id="46" name="Oval 45"/>
          <p:cNvSpPr/>
          <p:nvPr/>
        </p:nvSpPr>
        <p:spPr>
          <a:xfrm>
            <a:off x="4811247" y="4037539"/>
            <a:ext cx="146304" cy="146304"/>
          </a:xfrm>
          <a:prstGeom prst="ellipse">
            <a:avLst/>
          </a:prstGeom>
          <a:solidFill>
            <a:srgbClr val="4A321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3271" y="4037539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全家 五權店</a:t>
            </a:r>
          </a:p>
        </p:txBody>
      </p:sp>
      <p:sp>
        <p:nvSpPr>
          <p:cNvPr id="48" name="Oval 47"/>
          <p:cNvSpPr/>
          <p:nvPr/>
        </p:nvSpPr>
        <p:spPr>
          <a:xfrm>
            <a:off x="3528023" y="3811272"/>
            <a:ext cx="146304" cy="146304"/>
          </a:xfrm>
          <a:prstGeom prst="ellipse">
            <a:avLst/>
          </a:prstGeom>
          <a:solidFill>
            <a:srgbClr val="4A321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02143" y="3811272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壯圍傳統市場</a:t>
            </a:r>
          </a:p>
        </p:txBody>
      </p:sp>
      <p:sp>
        <p:nvSpPr>
          <p:cNvPr id="50" name="Oval 49"/>
          <p:cNvSpPr/>
          <p:nvPr/>
        </p:nvSpPr>
        <p:spPr>
          <a:xfrm>
            <a:off x="2311007" y="4487435"/>
            <a:ext cx="146304" cy="146304"/>
          </a:xfrm>
          <a:prstGeom prst="ellipse">
            <a:avLst/>
          </a:prstGeom>
          <a:solidFill>
            <a:srgbClr val="4A321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5127" y="4487435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家樂福 宜蘭店</a:t>
            </a:r>
          </a:p>
        </p:txBody>
      </p:sp>
      <p:sp>
        <p:nvSpPr>
          <p:cNvPr id="52" name="Oval 51"/>
          <p:cNvSpPr/>
          <p:nvPr/>
        </p:nvSpPr>
        <p:spPr>
          <a:xfrm>
            <a:off x="2608788" y="4746278"/>
            <a:ext cx="146304" cy="146304"/>
          </a:xfrm>
          <a:prstGeom prst="ellipse">
            <a:avLst/>
          </a:prstGeom>
          <a:solidFill>
            <a:srgbClr val="4A321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82908" y="4746278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宜蘭夢時代</a:t>
            </a:r>
          </a:p>
        </p:txBody>
      </p:sp>
      <p:sp>
        <p:nvSpPr>
          <p:cNvPr id="54" name="Oval 53"/>
          <p:cNvSpPr/>
          <p:nvPr/>
        </p:nvSpPr>
        <p:spPr>
          <a:xfrm>
            <a:off x="3424491" y="3625736"/>
            <a:ext cx="146304" cy="146304"/>
          </a:xfrm>
          <a:prstGeom prst="ellipse">
            <a:avLst/>
          </a:prstGeom>
          <a:solidFill>
            <a:srgbClr val="2D6C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98611" y="3625736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壯圍鄉衛生所</a:t>
            </a:r>
          </a:p>
        </p:txBody>
      </p:sp>
      <p:sp>
        <p:nvSpPr>
          <p:cNvPr id="56" name="Oval 55"/>
          <p:cNvSpPr/>
          <p:nvPr/>
        </p:nvSpPr>
        <p:spPr>
          <a:xfrm>
            <a:off x="3496580" y="6201455"/>
            <a:ext cx="146304" cy="146304"/>
          </a:xfrm>
          <a:prstGeom prst="ellipse">
            <a:avLst/>
          </a:prstGeom>
          <a:solidFill>
            <a:srgbClr val="2D6C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70700" y="6201455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羅東博愛醫院</a:t>
            </a:r>
          </a:p>
        </p:txBody>
      </p:sp>
      <p:sp>
        <p:nvSpPr>
          <p:cNvPr id="58" name="Oval 57"/>
          <p:cNvSpPr/>
          <p:nvPr/>
        </p:nvSpPr>
        <p:spPr>
          <a:xfrm>
            <a:off x="2629234" y="4924044"/>
            <a:ext cx="146304" cy="146304"/>
          </a:xfrm>
          <a:prstGeom prst="ellipse">
            <a:avLst/>
          </a:prstGeom>
          <a:solidFill>
            <a:srgbClr val="2D6C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03354" y="4924044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國立陽明交大附醫</a:t>
            </a:r>
          </a:p>
        </p:txBody>
      </p:sp>
      <p:sp>
        <p:nvSpPr>
          <p:cNvPr id="60" name="Oval 59"/>
          <p:cNvSpPr/>
          <p:nvPr/>
        </p:nvSpPr>
        <p:spPr>
          <a:xfrm>
            <a:off x="5413248" y="3950208"/>
            <a:ext cx="146304" cy="146304"/>
          </a:xfrm>
          <a:prstGeom prst="ellipse">
            <a:avLst/>
          </a:prstGeom>
          <a:solidFill>
            <a:srgbClr val="B86B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05272" y="3950208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壯圍沙丘 旅服中心</a:t>
            </a:r>
          </a:p>
        </p:txBody>
      </p:sp>
      <p:sp>
        <p:nvSpPr>
          <p:cNvPr id="62" name="Oval 61"/>
          <p:cNvSpPr/>
          <p:nvPr/>
        </p:nvSpPr>
        <p:spPr>
          <a:xfrm>
            <a:off x="5853146" y="4084693"/>
            <a:ext cx="146304" cy="146304"/>
          </a:xfrm>
          <a:prstGeom prst="ellipse">
            <a:avLst/>
          </a:prstGeom>
          <a:solidFill>
            <a:srgbClr val="B86B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45170" y="4084693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永鎮海濱公園</a:t>
            </a:r>
          </a:p>
        </p:txBody>
      </p:sp>
      <p:sp>
        <p:nvSpPr>
          <p:cNvPr id="64" name="Oval 63"/>
          <p:cNvSpPr/>
          <p:nvPr/>
        </p:nvSpPr>
        <p:spPr>
          <a:xfrm>
            <a:off x="2740099" y="4860036"/>
            <a:ext cx="146304" cy="146304"/>
          </a:xfrm>
          <a:prstGeom prst="ellipse">
            <a:avLst/>
          </a:prstGeom>
          <a:solidFill>
            <a:srgbClr val="B86B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14219" y="4860036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宜蘭運動公園</a:t>
            </a:r>
          </a:p>
        </p:txBody>
      </p:sp>
      <p:sp>
        <p:nvSpPr>
          <p:cNvPr id="66" name="Oval 65"/>
          <p:cNvSpPr/>
          <p:nvPr/>
        </p:nvSpPr>
        <p:spPr>
          <a:xfrm>
            <a:off x="4720866" y="6246503"/>
            <a:ext cx="146304" cy="146304"/>
          </a:xfrm>
          <a:prstGeom prst="ellipse">
            <a:avLst/>
          </a:prstGeom>
          <a:solidFill>
            <a:srgbClr val="B86B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53938" y="6246503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國立傳藝中心</a:t>
            </a:r>
          </a:p>
        </p:txBody>
      </p:sp>
      <p:sp>
        <p:nvSpPr>
          <p:cNvPr id="68" name="Oval 67"/>
          <p:cNvSpPr/>
          <p:nvPr/>
        </p:nvSpPr>
        <p:spPr>
          <a:xfrm>
            <a:off x="3507526" y="6171382"/>
            <a:ext cx="146304" cy="146304"/>
          </a:xfrm>
          <a:prstGeom prst="ellipse">
            <a:avLst/>
          </a:prstGeom>
          <a:solidFill>
            <a:srgbClr val="B86B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81646" y="6171382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羅東夜市</a:t>
            </a:r>
          </a:p>
        </p:txBody>
      </p:sp>
      <p:sp>
        <p:nvSpPr>
          <p:cNvPr id="70" name="Oval 69"/>
          <p:cNvSpPr/>
          <p:nvPr/>
        </p:nvSpPr>
        <p:spPr>
          <a:xfrm>
            <a:off x="3894396" y="1559358"/>
            <a:ext cx="146304" cy="146304"/>
          </a:xfrm>
          <a:prstGeom prst="ellipse">
            <a:avLst/>
          </a:prstGeom>
          <a:solidFill>
            <a:srgbClr val="B86B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27468" y="1559358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礁溪溫泉</a:t>
            </a:r>
          </a:p>
        </p:txBody>
      </p:sp>
      <p:sp>
        <p:nvSpPr>
          <p:cNvPr id="72" name="Oval 71"/>
          <p:cNvSpPr/>
          <p:nvPr/>
        </p:nvSpPr>
        <p:spPr>
          <a:xfrm>
            <a:off x="6612459" y="2624328"/>
            <a:ext cx="146304" cy="146304"/>
          </a:xfrm>
          <a:prstGeom prst="ellipse">
            <a:avLst/>
          </a:prstGeom>
          <a:solidFill>
            <a:srgbClr val="B86B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04483" y="2624328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龜山島</a:t>
            </a:r>
          </a:p>
        </p:txBody>
      </p:sp>
      <p:sp>
        <p:nvSpPr>
          <p:cNvPr id="74" name="Oval 73"/>
          <p:cNvSpPr/>
          <p:nvPr/>
        </p:nvSpPr>
        <p:spPr>
          <a:xfrm>
            <a:off x="2921508" y="3950208"/>
            <a:ext cx="146304" cy="146304"/>
          </a:xfrm>
          <a:prstGeom prst="ellipse">
            <a:avLst/>
          </a:prstGeom>
          <a:solidFill>
            <a:srgbClr val="4A4A8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595628" y="3950208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國道5 壯圍交流道</a:t>
            </a:r>
          </a:p>
        </p:txBody>
      </p:sp>
      <p:sp>
        <p:nvSpPr>
          <p:cNvPr id="76" name="Oval 75"/>
          <p:cNvSpPr/>
          <p:nvPr/>
        </p:nvSpPr>
        <p:spPr>
          <a:xfrm>
            <a:off x="2550777" y="4773329"/>
            <a:ext cx="146304" cy="146304"/>
          </a:xfrm>
          <a:prstGeom prst="ellipse">
            <a:avLst/>
          </a:prstGeom>
          <a:solidFill>
            <a:srgbClr val="4A4A8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224897" y="4773329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宜蘭火車站</a:t>
            </a:r>
          </a:p>
        </p:txBody>
      </p:sp>
      <p:sp>
        <p:nvSpPr>
          <p:cNvPr id="78" name="Oval 77"/>
          <p:cNvSpPr/>
          <p:nvPr/>
        </p:nvSpPr>
        <p:spPr>
          <a:xfrm>
            <a:off x="2492766" y="4800380"/>
            <a:ext cx="146304" cy="146304"/>
          </a:xfrm>
          <a:prstGeom prst="ellipse">
            <a:avLst/>
          </a:prstGeom>
          <a:solidFill>
            <a:srgbClr val="4A4A8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66886" y="4800380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宜蘭轉運站</a:t>
            </a:r>
          </a:p>
        </p:txBody>
      </p:sp>
      <p:sp>
        <p:nvSpPr>
          <p:cNvPr id="80" name="Oval 79"/>
          <p:cNvSpPr/>
          <p:nvPr/>
        </p:nvSpPr>
        <p:spPr>
          <a:xfrm>
            <a:off x="1344290" y="3426221"/>
            <a:ext cx="146304" cy="146304"/>
          </a:xfrm>
          <a:prstGeom prst="ellipse">
            <a:avLst/>
          </a:prstGeom>
          <a:solidFill>
            <a:srgbClr val="4A4A8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410" y="3426221"/>
            <a:ext cx="128016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>
                <a:solidFill>
                  <a:srgbClr val="4A3210"/>
                </a:solidFill>
                <a:latin typeface="Microsoft JhengHei"/>
                <a:ea typeface="Microsoft JhengHei"/>
              </a:rPr>
              <a:t>台北車站（雪隧）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2480" y="1554480"/>
            <a:ext cx="34747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圖例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412480" y="2011679"/>
            <a:ext cx="201168" cy="201168"/>
          </a:xfrm>
          <a:prstGeom prst="rect">
            <a:avLst/>
          </a:prstGeom>
          <a:solidFill>
            <a:srgbClr val="8B3A0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732519" y="1965960"/>
            <a:ext cx="310896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學區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12480" y="2377439"/>
            <a:ext cx="201168" cy="201168"/>
          </a:xfrm>
          <a:prstGeom prst="rect">
            <a:avLst/>
          </a:prstGeom>
          <a:solidFill>
            <a:srgbClr val="4A321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32519" y="2331720"/>
            <a:ext cx="310896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購物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412480" y="2743200"/>
            <a:ext cx="201168" cy="201168"/>
          </a:xfrm>
          <a:prstGeom prst="rect">
            <a:avLst/>
          </a:prstGeom>
          <a:solidFill>
            <a:srgbClr val="2D6C4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32519" y="2697480"/>
            <a:ext cx="310896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醫療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12480" y="3108960"/>
            <a:ext cx="201168" cy="201168"/>
          </a:xfrm>
          <a:prstGeom prst="rect">
            <a:avLst/>
          </a:prstGeom>
          <a:solidFill>
            <a:srgbClr val="B86B1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732519" y="3063240"/>
            <a:ext cx="310896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景點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412480" y="3474720"/>
            <a:ext cx="201168" cy="201168"/>
          </a:xfrm>
          <a:prstGeom prst="rect">
            <a:avLst/>
          </a:prstGeom>
          <a:solidFill>
            <a:srgbClr val="4A4A8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732519" y="3429000"/>
            <a:ext cx="310896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交通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412480" y="4023360"/>
            <a:ext cx="3474720" cy="237744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49640" y="4114800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三句話總結機能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49640" y="45262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0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050">
                <a:solidFill>
                  <a:srgbClr val="4A3210"/>
                </a:solidFill>
                <a:latin typeface="Microsoft JhengHei"/>
                <a:ea typeface="Microsoft JhengHei"/>
              </a:rPr>
              <a:t>1 km：便利商店、市場、公園</a:t>
            </a:r>
          </a:p>
          <a:p>
            <a:pPr>
              <a:lnSpc>
                <a:spcPct val="140000"/>
              </a:lnSpc>
            </a:pPr>
            <a:r>
              <a:rPr sz="10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050">
                <a:solidFill>
                  <a:srgbClr val="4A3210"/>
                </a:solidFill>
                <a:latin typeface="Microsoft JhengHei"/>
                <a:ea typeface="Microsoft JhengHei"/>
              </a:rPr>
              <a:t>5 km：學區、超市、衛生所</a:t>
            </a:r>
          </a:p>
          <a:p>
            <a:pPr>
              <a:lnSpc>
                <a:spcPct val="140000"/>
              </a:lnSpc>
            </a:pPr>
            <a:r>
              <a:rPr sz="10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050">
                <a:solidFill>
                  <a:srgbClr val="4A3210"/>
                </a:solidFill>
                <a:latin typeface="Microsoft JhengHei"/>
                <a:ea typeface="Microsoft JhengHei"/>
              </a:rPr>
              <a:t>10 km：宜蘭市區、火車、醫院</a:t>
            </a:r>
          </a:p>
          <a:p>
            <a:pPr>
              <a:lnSpc>
                <a:spcPct val="140000"/>
              </a:lnSpc>
            </a:pPr>
            <a:r>
              <a:rPr sz="10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050">
                <a:solidFill>
                  <a:srgbClr val="4A3210"/>
                </a:solidFill>
                <a:latin typeface="Microsoft JhengHei"/>
                <a:ea typeface="Microsoft JhengHei"/>
              </a:rPr>
              <a:t>50 min：雙北雪山隧道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距離為合理估算｜方位為粗略示意｜業主請以實際座標核校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13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13　主力客群故事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林先生的一天｜給 TA1 返鄉換屋族的敘事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林先生・34 歲｜軟體工程師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宜蘭壯圍出身．台北工作 8 年．兩個孩子 6 歲、3 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5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「07:30　爸爸把孩子送到 4 分鐘車程的公館國小。</a:t>
            </a:r>
          </a:p>
          <a:p>
            <a:pPr>
              <a:lnSpc>
                <a:spcPct val="15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08:15　搭區間車到宜蘭轉運站、轉葛瑪蘭，09:30 進台北辦公室。</a:t>
            </a:r>
          </a:p>
          <a:p>
            <a:pPr>
              <a:lnSpc>
                <a:spcPct val="15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12:00　午餐時 LINE 媽媽：『中午回去吃飯嗎？』媽媽住宜蘭市，10 分鐘車程。</a:t>
            </a:r>
          </a:p>
          <a:p>
            <a:pPr>
              <a:lnSpc>
                <a:spcPct val="15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18:30　離開公司、雪隧暢通，20:00 回家。</a:t>
            </a:r>
          </a:p>
          <a:p>
            <a:pPr>
              <a:lnSpc>
                <a:spcPct val="15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19:00　全家走到鄰里公園散步，帶孩子買 7-11 冰淇淋。</a:t>
            </a:r>
          </a:p>
          <a:p>
            <a:pPr>
              <a:lnSpc>
                <a:spcPct val="15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週六　全家去壯圍沙丘野餐、看海，下午到夢時代購物。</a:t>
            </a:r>
          </a:p>
          <a:p>
            <a:pPr>
              <a:lnSpc>
                <a:spcPct val="15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週日　全家去羅東夜市吃晚餐，22:00 回家睡覺。</a:t>
            </a:r>
          </a:p>
          <a:p>
            <a:pPr>
              <a:lnSpc>
                <a:spcPct val="15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5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「在台北 8 年，我們每月房租 30,000、通勤 90 分鐘。搬回壯圍後：房貸 30,000、通勤一週兩次。省下的時間，是和爸媽、孩子的時間。」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54480"/>
            <a:ext cx="5577840" cy="4846320"/>
          </a:xfrm>
          <a:prstGeom prst="rect">
            <a:avLst/>
          </a:prstGeom>
          <a:solidFill>
            <a:srgbClr val="F5CB4F"/>
          </a:solidFill>
          <a:ln w="9525">
            <a:solidFill>
              <a:srgbClr val="8B3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52120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8B3A0F"/>
                </a:solidFill>
                <a:latin typeface="Microsoft JhengHei"/>
                <a:ea typeface="Microsoft JhengHei"/>
              </a:rPr>
              <a:t>每一句的機能依據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240280"/>
            <a:ext cx="5349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0428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送孩子上學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04288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公館 / 壯圍國小 4~5 分鐘車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0720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通勤台北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807208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國道 5 壯圍交流道 8 分鐘 → 雪隧 50 分鐘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246120"/>
            <a:ext cx="5349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3101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中午回家吃飯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310128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媽媽住宜蘭市，10 分鐘車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1304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傍晚散步買冰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813048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7-11 / 鄰里公園步行可達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251960"/>
            <a:ext cx="5349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31596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週六海邊野餐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315968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壯圍沙丘 / 永鎮海濱 7~10 分鐘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1888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週六下午購物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18888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宜蘭夢時代 13 分鐘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5257800"/>
            <a:ext cx="5349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32180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週日羅東夜市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21808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20 分鐘車程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824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爸媽就近照顧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824728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陽明交大附醫 14 分鐘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故事為璞域撰寫，依本簡報機能盤點為依據 — 業主可任意改編作為文案核心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14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14　下一步行動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從本簡報的機能假設 → 落地的視覺輸出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22514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工項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璞域提供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業主提供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實地踏勘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陪同（半天）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車輛、聯絡窗口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機能距離精校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驗證並更新本簡報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實際步測 / 行車紀錄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學區查證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向縣教育處正式詢問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—（資料可公開）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機能地圖視覺化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依本簡報資料製作正式版「機能地圖海報」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選定設計風格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故事文案精修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從故事擴寫為廣告 / DM 文案系列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業主回饋方向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6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短影音腳本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依故事改寫成 30 秒影音腳本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確認預算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預計兩週內可完成踏勘 + 精校 + 第一版機能地圖海報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璞域品牌策略｜www.pure-branding.com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15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