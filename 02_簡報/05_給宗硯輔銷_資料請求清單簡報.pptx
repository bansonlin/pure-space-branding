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AC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4A3210"/>
                </a:solidFill>
                <a:latin typeface="Microsoft JhengHei"/>
                <a:ea typeface="Microsoft JhengHei"/>
              </a:rPr>
              <a:t>璞域品牌策略 → 宗硯輔銷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6400" b="1">
                <a:solidFill>
                  <a:srgbClr val="4A3210"/>
                </a:solidFill>
                <a:latin typeface="Microsoft JhengHei"/>
                <a:ea typeface="Microsoft JhengHei"/>
              </a:rPr>
              <a:t>資料請求清單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23360"/>
            <a:ext cx="91440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4A3210"/>
                </a:solidFill>
                <a:latin typeface="Microsoft JhengHei"/>
                <a:ea typeface="Microsoft JhengHei"/>
              </a:rPr>
              <a:t>協助鼎弘建設新案「中道森活」精校定價</a:t>
            </a:r>
          </a:p>
        </p:txBody>
      </p:sp>
      <p:sp>
        <p:nvSpPr>
          <p:cNvPr id="7" name="Rectangle 6"/>
          <p:cNvSpPr/>
          <p:nvPr/>
        </p:nvSpPr>
        <p:spPr>
          <a:xfrm>
            <a:off x="5641848" y="4754880"/>
            <a:ext cx="914400" cy="19050"/>
          </a:xfrm>
          <a:prstGeom prst="rect">
            <a:avLst/>
          </a:prstGeom>
          <a:solidFill>
            <a:srgbClr val="4A3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壯圍鄉同營造廠｜雙案協同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1264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0">
                <a:solidFill>
                  <a:srgbClr val="4A3210"/>
                </a:solidFill>
                <a:latin typeface="Microsoft JhengHei"/>
                <a:ea typeface="Microsoft JhengHei"/>
              </a:rPr>
              <a:t>2026.06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簡報目錄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01　請求背景：為何兩案需要資料協同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02　請求對象與保密前提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03　請求項 1 — 成交去化曲線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04　請求項 2 — 來客客層輪廓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05　請求項 3 — 看屋熱區戶別分布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06　請求項 4 — 議價底線與付款條件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07　請求項 5 — 媒體效果（選擇性）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08　交付格式與時程</a:t>
            </a:r>
          </a:p>
          <a:p>
            <a:pPr>
              <a:lnSpc>
                <a:spcPct val="150000"/>
              </a:lnSpc>
            </a:pPr>
            <a:r>
              <a:rPr sz="20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2000">
                <a:solidFill>
                  <a:srgbClr val="4A3210"/>
                </a:solidFill>
                <a:latin typeface="Microsoft JhengHei"/>
                <a:ea typeface="Microsoft JhengHei"/>
              </a:rPr>
              <a:t>09　雙方互惠：璞域可回給宗硯什麼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01　請求背景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兩案的關係結構與協同的必要性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47120" cy="201168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4A3210"/>
                </a:solidFill>
                <a:latin typeface="Microsoft JhengHei"/>
                <a:ea typeface="Microsoft JhengHei"/>
              </a:rPr>
              <a:t>關係結構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972800" cy="1371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40000"/>
              </a:lnSpc>
            </a:pPr>
            <a:r>
              <a:rPr sz="1300" b="0">
                <a:solidFill>
                  <a:srgbClr val="4A3210"/>
                </a:solidFill>
                <a:latin typeface="Courier New"/>
                <a:ea typeface="Courier New"/>
              </a:rPr>
              <a:t>鼎弘建設 ──業主社群── 宗硯建設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4A3210"/>
                </a:solidFill>
                <a:latin typeface="Courier New"/>
                <a:ea typeface="Courier New"/>
              </a:rPr>
              <a:t>    │                      │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4A3210"/>
                </a:solidFill>
                <a:latin typeface="Courier New"/>
                <a:ea typeface="Courier New"/>
              </a:rPr>
              <a:t>中道森活｜栖（本案，27戶）  ◄═同營造廠═►  宗硯大砌系列18-透天（31戶）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4A3210"/>
                </a:solidFill>
                <a:latin typeface="Courier New"/>
                <a:ea typeface="Courier New"/>
              </a:rPr>
              <a:t>    │                      │</a:t>
            </a:r>
          </a:p>
          <a:p>
            <a:pPr>
              <a:lnSpc>
                <a:spcPct val="140000"/>
              </a:lnSpc>
            </a:pPr>
            <a:r>
              <a:rPr sz="1300" b="0">
                <a:solidFill>
                  <a:srgbClr val="4A3210"/>
                </a:solidFill>
                <a:latin typeface="Courier New"/>
                <a:ea typeface="Courier New"/>
              </a:rPr>
              <a:t>璞域品牌策略  ◄══輔銷顧問══►  宗硯輔銷企劃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11247120" cy="2468880"/>
          </a:xfrm>
          <a:prstGeom prst="rect">
            <a:avLst/>
          </a:prstGeom>
          <a:solidFill>
            <a:srgbClr val="FFF8E7"/>
          </a:solidFill>
          <a:ln w="9525">
            <a:solidFill>
              <a:srgbClr val="8B3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8B3A0F"/>
                </a:solidFill>
                <a:latin typeface="Microsoft JhengHei"/>
                <a:ea typeface="Microsoft JhengHei"/>
              </a:rPr>
              <a:t>為什麼要協同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兩案同營造廠、同價帶（21 萬/坪上下）、同客層 — 不協同會自相打架</a:t>
            </a:r>
          </a:p>
          <a:p>
            <a:pPr>
              <a:lnSpc>
                <a:spcPct val="13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兩案合計 58 戶 ≈ 壯圍 24 個月透天市場吸納量 29% — 同期推案有供給壓力</a:t>
            </a:r>
          </a:p>
          <a:p>
            <a:pPr>
              <a:lnSpc>
                <a:spcPct val="13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宗硯大砌已開賣 4 個月（2026.02 起），有真實去化數據；中道森活預計 Q4 上市 — **時間差優勢**：可用宗硯實戰數據精校定價</a:t>
            </a:r>
          </a:p>
          <a:p>
            <a:pPr>
              <a:lnSpc>
                <a:spcPct val="135000"/>
              </a:lnSpc>
            </a:pPr>
            <a:r>
              <a:rPr sz="125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50">
                <a:solidFill>
                  <a:srgbClr val="4A3210"/>
                </a:solidFill>
                <a:latin typeface="Microsoft JhengHei"/>
                <a:ea typeface="Microsoft JhengHei"/>
              </a:rPr>
              <a:t>璞域同時服務兩案：對宗硯有「定價對齊不被低價案打」的價值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本資料請求清單為雙方互惠協同的工具 — 非單向索取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2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02　請求對象與保密前提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資料邊界與使用範圍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394960" cy="457200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3949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4A3210"/>
                </a:solidFill>
                <a:latin typeface="Microsoft JhengHei"/>
                <a:ea typeface="Microsoft JhengHei"/>
              </a:rPr>
              <a:t>對象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宗硯建設輔銷企劃部門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璞域既有合作關係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經宗硯內部許可後提供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聯絡窗口：（業主確認後填入）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554480"/>
            <a:ext cx="5394960" cy="4572000"/>
          </a:xfrm>
          <a:prstGeom prst="rect">
            <a:avLst/>
          </a:prstGeom>
          <a:solidFill>
            <a:srgbClr val="FFF8E7"/>
          </a:solidFill>
          <a:ln w="9525">
            <a:solidFill>
              <a:srgbClr val="8B3A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53949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8B3A0F"/>
                </a:solidFill>
                <a:latin typeface="Microsoft JhengHei"/>
                <a:ea typeface="Microsoft JhengHei"/>
              </a:rPr>
              <a:t>保密前提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資料僅供中道森活定價校準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璞域內部最多 2 人接觸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成果不對第三方披露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不轉述、不二次散布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全部資料於本案上市後 6 個月內銷毀</a:t>
            </a:r>
          </a:p>
          <a:p>
            <a:pPr>
              <a:lnSpc>
                <a:spcPct val="14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300">
                <a:solidFill>
                  <a:srgbClr val="4A3210"/>
                </a:solidFill>
                <a:latin typeface="Microsoft JhengHei"/>
                <a:ea typeface="Microsoft JhengHei"/>
              </a:rPr>
              <a:t>簽訂保密附約後生效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保密附約建議：補簽於既有輔銷合約之 NDA 附件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3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03　請求項 1 — 成交去化曲線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宗硯大砌系列18 自開賣至今的每月新增成交數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欄位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格式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36576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月份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YYYY-MM（2026-02 起）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看去化節奏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6576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當月新增成交戶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整數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看是否衝刺、是否疲軟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累積成交戶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整數（最終 ≤ 31）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看完銷進度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36576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當月來客數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整數（如有）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看廣告效果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當月成交/來客 (%)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百分比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看轉換率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114800"/>
            <a:ext cx="11247120" cy="2011680"/>
          </a:xfrm>
          <a:prstGeom prst="rect">
            <a:avLst/>
          </a:prstGeom>
          <a:solidFill>
            <a:srgbClr val="FFF8E7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10972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對中道森活的價值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知道宗硯實際多快被消化 → 預測壯圍同價帶 6 個月吸納量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判斷中道森活 Q4 上市時，市場是否還有需求殘量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若宗硯前 4 個月已賣 60%（=18戶以上）→ 強市場訊號，可拉中道單價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若宗硯前 4 個月只賣 30%（=9戶以下）→ 弱市場訊號，必須對齊更低單價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格式建議：Excel 或 csv；單月一列；至少含開賣以來逐月資料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4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04　請求項 2 — 來客客層輪廓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宗硯大砌系列18 真實買家的人口輪廓統計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1435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客層維度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分組方式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年齡帶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30-、30~40、40~50、50+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對齊 TA1/TA2/TA3 比例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居住地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宜蘭、台北/新北、其他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返鄉客 vs 在地客比例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家庭結構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首購夫妻、有子女、退休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格局偏好驗證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購屋動機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自住、置產、子女、退休回鄉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賣點調整方向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原住型態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公寓、老透天、租屋、其他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換屋客 vs 首購客比例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購買頻率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首購 / 第二房 / 投資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預算敏感度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付款方式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自備款比例、貸款成數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金流壓力測試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9788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用途：直接校準客群定位簡報 TA1/TA2/TA3 的 45% / 35% / 20% 比例假設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格式建議：每維度一張小表，匿名統計即可，不需個資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5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05　請求項 3 — 看屋熱區戶別分布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宗硯大砌系列18 哪幾戶先賣完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欄位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格式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戶別代號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A1、B2、… 或宗硯編碼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對應戶別位置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地坪 / 建坪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驗證大地坪是否真有溢價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定價時單價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萬/坪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比對戶別差異化定價合理性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成交順序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1, 2, 3, 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找出熱門戶別共通特徵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最終成交價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萬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對比定價，看議價空間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4572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備註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客戶特徵或交易特殊狀況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（選填）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solidFill>
            <a:srgbClr val="F5CB4F"/>
          </a:solidFill>
          <a:ln w="9525">
            <a:solidFill>
              <a:srgbClr val="4A32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8B3A0F"/>
                </a:solidFill>
                <a:latin typeface="Microsoft JhengHei"/>
                <a:ea typeface="Microsoft JhengHei"/>
              </a:rPr>
              <a:t>對中道森活的價值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5778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反推中道森活 27 戶哪些戶位最有競爭力（角間、雙面採光、屋頂層）</a:t>
            </a:r>
          </a:p>
          <a:p>
            <a:pPr>
              <a:lnSpc>
                <a:spcPct val="135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• </a:t>
            </a:r>
            <a:r>
              <a:rPr sz="1200">
                <a:solidFill>
                  <a:srgbClr val="4A3210"/>
                </a:solidFill>
                <a:latin typeface="Microsoft JhengHei"/>
                <a:ea typeface="Microsoft JhengHei"/>
              </a:rPr>
              <a:t>依此調整 27 戶單戶定價試算表的「群組分級」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格式建議：每戶一列，可匿去客戶資訊但留戶別/區位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6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06　請求項 4 — 議價底線與付款條件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宗硯大砌系列18 真實接受的議價範圍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334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欄位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範圍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議價幅度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牌價 vs 成交價的 %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知道實際成交相對牌價打多少折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前 5 戶讓利幅度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比例 / 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驗證「前期讓利衝量」策略效果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後段戶有無提價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%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驗證「後段溢價」策略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付款條件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自備、貸款、分期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看客戶能負擔的付款方式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送禮 / 加贈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家電、裝潢、車位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15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看是否需配套包套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1">
                <a:solidFill>
                  <a:srgbClr val="8B3A0F"/>
                </a:solidFill>
                <a:latin typeface="Microsoft JhengHei"/>
                <a:ea typeface="Microsoft JhengHei"/>
              </a:rPr>
              <a:t>用途：中道森活的議價底線設定 + 看屋會館的優惠話術設計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235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150" b="0">
                <a:solidFill>
                  <a:srgbClr val="555555"/>
                </a:solidFill>
                <a:latin typeface="Microsoft JhengHei"/>
                <a:ea typeface="Microsoft JhengHei"/>
              </a:rPr>
              <a:t>建議揭露程度：給「區間 + 平均」即可，不需逐戶議價細節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敏感度最高的請求項 — 務必經宗硯內部許可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7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07　請求項 5 — 媒體效果（選擇性）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宗硯大砌系列18 廣告投放效果回饋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3340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欄位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廣告通路與佔比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 591、地方廣告、戶外、社群比例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每通路來客單成本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知道哪個通路 CPL 最低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每通路成交轉換率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知道哪個通路客質最高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主視覺曝光效果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若有 A/B test 結果可參考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最有效的賣點 message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用於中道森活廣告文案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200" b="0">
                <a:solidFill>
                  <a:srgbClr val="555555"/>
                </a:solidFill>
                <a:latin typeface="Microsoft JhengHei"/>
                <a:ea typeface="Microsoft JhengHei"/>
              </a:rPr>
              <a:t>標記為選擇性 — 若宗硯認為涉及代銷祕辛，可暫不提供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互惠版本：璞域可回給宗硯中道森活的同類數據作為交換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8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08　交付格式與時程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璞域接收後 5 個工作天內提供整合分析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22514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階段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時程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工項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W0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本簡報遞交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宗硯內部評估、簽 NDA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請求項 1+2+3 交付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去化曲線、客層、熱區（核心 3 項）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W2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請求項 4 交付（選擇性）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議價底線（最敏感）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請求項 5 交付（選擇性）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媒體效果（選擇性）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W3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璞域產出整合分析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對中道森活的定價建議調整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522516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W4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璞域回饋宗硯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中道森活相對數據（互惠）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1">
                <a:solidFill>
                  <a:srgbClr val="8B3A0F"/>
                </a:solidFill>
                <a:latin typeface="Microsoft JhengHei"/>
                <a:ea typeface="Microsoft JhengHei"/>
              </a:rPr>
              <a:t>全程約 4 週｜核心 3 項在 W1 完成已足以做關鍵調整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900" b="0">
                <a:solidFill>
                  <a:srgbClr val="A0A0A0"/>
                </a:solidFill>
                <a:latin typeface="Microsoft JhengHei"/>
                <a:ea typeface="Microsoft JhengHei"/>
              </a:rPr>
              <a:t>PDF / Excel / csv 皆可接收，視宗硯方便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9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A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4A3210"/>
                </a:solidFill>
                <a:latin typeface="Microsoft JhengHei"/>
                <a:ea typeface="Microsoft JhengHei"/>
              </a:rPr>
              <a:t>09　雙方互惠 — 璞域可回給宗硯什麼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icrosoft JhengHei"/>
                <a:ea typeface="Microsoft JhengHei"/>
              </a:rPr>
              <a:t>不是單向索取，是雙向協同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731520" cy="31750"/>
          </a:xfrm>
          <a:prstGeom prst="rect">
            <a:avLst/>
          </a:prstGeom>
          <a:solidFill>
            <a:srgbClr val="8B3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31520"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互惠項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內容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對宗硯的價值</a:t>
                      </a:r>
                    </a:p>
                  </a:txBody>
                  <a:tcPr>
                    <a:solidFill>
                      <a:srgbClr val="4A3210"/>
                    </a:solidFill>
                  </a:tcPr>
                </a:tc>
              </a:tr>
              <a:tr h="73152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中道森活開賣後同類數據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去化曲線、客層、熱區（W12+ 交付）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看自己銷售相對位置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73152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壯圍區整體市場分析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璞域已產出之 24M 實登分析（v0.3 報告）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市場全景驗證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共同避險的定價戰略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兩案不打價格戰、不重疊期推案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宗硯後段戶不被低價案打</a:t>
                      </a:r>
                    </a:p>
                  </a:txBody>
                  <a:tcPr>
                    <a:solidFill>
                      <a:srgbClr val="FFF8E7"/>
                    </a:solidFill>
                  </a:tcPr>
                </a:tc>
              </a:tr>
              <a:tr h="731520"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1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共用接待中心廣告版位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視兩案是否同時段運作而定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50800" rIns="50800" tIns="25400" bIns="25400"/>
                    <a:lstStyle/>
                    <a:p>
                      <a:pPr algn="l"/>
                      <a:r>
                        <a:rPr sz="1200" b="0">
                          <a:solidFill>
                            <a:srgbClr val="4A3210"/>
                          </a:solidFill>
                          <a:latin typeface="Microsoft JhengHei"/>
                          <a:ea typeface="Microsoft JhengHei"/>
                        </a:rPr>
                        <a:t>省媒體預算 30~50%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>
                <a:solidFill>
                  <a:srgbClr val="4A3210"/>
                </a:solidFill>
                <a:latin typeface="Microsoft JhengHei"/>
                <a:ea typeface="Microsoft JhengHei"/>
              </a:rPr>
              <a:t>立場：璞域同時服務兩案，目標是兩案都好賣 — 不是讓中道贏宗硯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555555"/>
                </a:solidFill>
                <a:latin typeface="Microsoft JhengHei"/>
                <a:ea typeface="Microsoft JhengHei"/>
              </a:rPr>
              <a:t>璞域品牌策略｜www.pure-branding.com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A0A0A0"/>
                </a:solidFill>
                <a:latin typeface="Microsoft JhengHei"/>
                <a:ea typeface="Microsoft JhengHei"/>
              </a:rPr>
              <a:t>10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