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AC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4A3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4A3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91440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4A3210"/>
                </a:solidFill>
                <a:latin typeface="Microsoft JhengHei"/>
                <a:ea typeface="Microsoft JhengHei"/>
              </a:rPr>
              <a:t>鼎弘建設 業主會議專用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651760"/>
            <a:ext cx="9144000" cy="12801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6400" b="1">
                <a:solidFill>
                  <a:srgbClr val="4A3210"/>
                </a:solidFill>
                <a:latin typeface="Microsoft JhengHei"/>
                <a:ea typeface="Microsoft JhengHei"/>
              </a:rPr>
              <a:t>中 道 森 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023360"/>
            <a:ext cx="914400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4A3210"/>
                </a:solidFill>
                <a:latin typeface="Microsoft JhengHei"/>
                <a:ea typeface="Microsoft JhengHei"/>
              </a:rPr>
              <a:t>執行摘要｜15 分鐘決策版　Executive Summary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5641848" y="4754880"/>
            <a:ext cx="914400" cy="19050"/>
          </a:xfrm>
          <a:prstGeom prst="rect">
            <a:avLst/>
          </a:prstGeom>
          <a:solidFill>
            <a:srgbClr val="4A3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4A3210"/>
                </a:solidFill>
                <a:latin typeface="Microsoft JhengHei"/>
                <a:ea typeface="Microsoft JhengHei"/>
              </a:rPr>
              <a:t>壯圍鄉五權段｜27 戶｜2026 Q4 預計開賣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126480"/>
            <a:ext cx="50292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>
                <a:solidFill>
                  <a:srgbClr val="4A3210"/>
                </a:solidFill>
                <a:latin typeface="Microsoft JhengHei"/>
                <a:ea typeface="Microsoft JhengHei"/>
              </a:rPr>
              <a:t>2026.06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01　案件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一頁認識中道森活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2697480" cy="155448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2697480" cy="8229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>
                <a:solidFill>
                  <a:srgbClr val="4A3210"/>
                </a:solidFill>
                <a:latin typeface="Microsoft JhengHei"/>
                <a:ea typeface="Microsoft JhengHei"/>
              </a:rPr>
              <a:t>27 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269748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獨棟透天</a:t>
            </a:r>
          </a:p>
        </p:txBody>
      </p:sp>
      <p:sp>
        <p:nvSpPr>
          <p:cNvPr id="9" name="Rectangle 8"/>
          <p:cNvSpPr/>
          <p:nvPr/>
        </p:nvSpPr>
        <p:spPr>
          <a:xfrm>
            <a:off x="3273552" y="1600200"/>
            <a:ext cx="2697480" cy="155448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73552" y="1691640"/>
            <a:ext cx="2697480" cy="8229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>
                <a:solidFill>
                  <a:srgbClr val="8B3A0F"/>
                </a:solidFill>
                <a:latin typeface="Microsoft JhengHei"/>
                <a:ea typeface="Microsoft JhengHei"/>
              </a:rPr>
              <a:t>38~43 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73552" y="2606040"/>
            <a:ext cx="269748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建坪規模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9904" y="1600200"/>
            <a:ext cx="2697480" cy="155448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9904" y="1691640"/>
            <a:ext cx="2697480" cy="8229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>
                <a:solidFill>
                  <a:srgbClr val="4A3210"/>
                </a:solidFill>
                <a:latin typeface="Microsoft JhengHei"/>
                <a:ea typeface="Microsoft JhengHei"/>
              </a:rPr>
              <a:t>21 萬/坪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9904" y="2606040"/>
            <a:ext cx="269748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建議單價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06256" y="1600200"/>
            <a:ext cx="2697480" cy="155448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06256" y="1691640"/>
            <a:ext cx="2697480" cy="8229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>
                <a:solidFill>
                  <a:srgbClr val="8B3A0F"/>
                </a:solidFill>
                <a:latin typeface="Microsoft JhengHei"/>
                <a:ea typeface="Microsoft JhengHei"/>
              </a:rPr>
              <a:t>2.24 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06256" y="2606040"/>
            <a:ext cx="269748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預估總銷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383280"/>
            <a:ext cx="10972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555555"/>
                </a:solidFill>
                <a:latin typeface="Microsoft JhengHei"/>
                <a:ea typeface="Microsoft JhengHei"/>
              </a:rPr>
              <a:t>基地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383280"/>
            <a:ext cx="45720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4A3210"/>
                </a:solidFill>
                <a:latin typeface="Microsoft JhengHei"/>
                <a:ea typeface="Microsoft JhengHei"/>
              </a:rPr>
              <a:t>宜蘭縣壯圍鄉五權段 789、790 等 45 筆地號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383280"/>
            <a:ext cx="10972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555555"/>
                </a:solidFill>
                <a:latin typeface="Microsoft JhengHei"/>
                <a:ea typeface="Microsoft JhengHei"/>
              </a:rPr>
              <a:t>起造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3383280"/>
            <a:ext cx="45720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4A3210"/>
                </a:solidFill>
                <a:latin typeface="Microsoft JhengHei"/>
                <a:ea typeface="Microsoft JhengHei"/>
              </a:rPr>
              <a:t>鼎弘健康生技｜代表人 陳鼎琳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023360"/>
            <a:ext cx="10972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555555"/>
                </a:solidFill>
                <a:latin typeface="Microsoft JhengHei"/>
                <a:ea typeface="Microsoft JhengHei"/>
              </a:rPr>
              <a:t>營造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023360"/>
            <a:ext cx="45720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4A3210"/>
                </a:solidFill>
                <a:latin typeface="Microsoft JhengHei"/>
                <a:ea typeface="Microsoft JhengHei"/>
              </a:rPr>
              <a:t>宗硯建設（同營造廠關聯案：宗硯大砌系列18 31 戶）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4023360"/>
            <a:ext cx="10972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555555"/>
                </a:solidFill>
                <a:latin typeface="Microsoft JhengHei"/>
                <a:ea typeface="Microsoft JhengHei"/>
              </a:rPr>
              <a:t>規劃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4023360"/>
            <a:ext cx="45720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4A3210"/>
                </a:solidFill>
                <a:latin typeface="Microsoft JhengHei"/>
                <a:ea typeface="Microsoft JhengHei"/>
              </a:rPr>
              <a:t>A~G 共 7 幢｜地上 3 層 + 屋頂層｜RC 結構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663440"/>
            <a:ext cx="10972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555555"/>
                </a:solidFill>
                <a:latin typeface="Microsoft JhengHei"/>
                <a:ea typeface="Microsoft JhengHei"/>
              </a:rPr>
              <a:t>目標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4663440"/>
            <a:ext cx="45720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4A3210"/>
                </a:solidFill>
                <a:latin typeface="Microsoft JhengHei"/>
                <a:ea typeface="Microsoft JhengHei"/>
              </a:rPr>
              <a:t>100% 守千萬內｜預估 18~24 個月完銷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4663440"/>
            <a:ext cx="10972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555555"/>
                </a:solidFill>
                <a:latin typeface="Microsoft JhengHei"/>
                <a:ea typeface="Microsoft JhengHei"/>
              </a:rPr>
              <a:t>信譽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4663440"/>
            <a:ext cx="45720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4A3210"/>
                </a:solidFill>
                <a:latin typeface="Microsoft JhengHei"/>
                <a:ea typeface="Microsoft JhengHei"/>
              </a:rPr>
              <a:t>鼎弘玉田森活 1/2、學進賦 3 案已完銷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Microsoft JhengHei"/>
                <a:ea typeface="Microsoft JhengHei"/>
              </a:rPr>
              <a:t>詳細資料：deck 01 客群定價、deck 06 客群深掘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1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02　客群與定價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三組 TA × 三條價格帶｜27 戶分配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685800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客群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戶數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每坪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總價帶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對應戶別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6858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TA 1 宜蘭返鄉換屋族 (45%)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12 戶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21.0 萬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810~903 萬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B7、C3、D2~D4、E2、F1~F3、G1~G3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</a:tr>
              <a:tr h="6858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TA 2 壯圍/礁溪在地二代 (35%)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10 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20.5 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780~840 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A2、A3、B1~B6、C1、C2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TA 3 雙北退休置產 (20%)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5 戶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22.0 萬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920~990 萬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A1、D1、E1、E3、F4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4572000"/>
            <a:ext cx="11247120" cy="1828800"/>
          </a:xfrm>
          <a:prstGeom prst="rect">
            <a:avLst/>
          </a:prstGeom>
          <a:solidFill>
            <a:srgbClr val="E8AC1B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709160"/>
            <a:ext cx="109728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</a:rPr>
              <a:t>★ 全案總銷（建議主力情境）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166360"/>
            <a:ext cx="6858000" cy="10972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</a:rPr>
              <a:t>22,431 萬　≈　2.24 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5212080"/>
            <a:ext cx="329184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</a:rPr>
              <a:t>27 戶平均 831 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5669280"/>
            <a:ext cx="329184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</a:rPr>
              <a:t>100% 守千萬內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2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03　競品地圖（重新分類）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宗硯大砌 = 關聯案不是對手｜真正競品是另外三案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3657600" cy="411480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36576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4A3210"/>
                </a:solidFill>
                <a:latin typeface="Microsoft JhengHei"/>
                <a:ea typeface="Microsoft JhengHei"/>
              </a:rPr>
              <a:t>關聯案 (同營造)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3383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15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150">
                <a:solidFill>
                  <a:srgbClr val="4A3210"/>
                </a:solidFill>
                <a:latin typeface="Microsoft JhengHei"/>
                <a:ea typeface="Microsoft JhengHei"/>
              </a:rPr>
              <a:t>宗硯大砌系列18-透天</a:t>
            </a:r>
          </a:p>
          <a:p>
            <a:pPr>
              <a:lnSpc>
                <a:spcPct val="150000"/>
              </a:lnSpc>
            </a:pPr>
            <a:r>
              <a:rPr sz="115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150">
                <a:solidFill>
                  <a:srgbClr val="4A3210"/>
                </a:solidFill>
                <a:latin typeface="Microsoft JhengHei"/>
                <a:ea typeface="Microsoft JhengHei"/>
              </a:rPr>
              <a:t>31 戶｜21.2 萬｜858 萬</a:t>
            </a:r>
          </a:p>
          <a:p>
            <a:pPr>
              <a:lnSpc>
                <a:spcPct val="150000"/>
              </a:lnSpc>
            </a:pPr>
            <a:r>
              <a:rPr sz="115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150">
                <a:solidFill>
                  <a:srgbClr val="4A3210"/>
                </a:solidFill>
                <a:latin typeface="Microsoft JhengHei"/>
                <a:ea typeface="Microsoft JhengHei"/>
              </a:rPr>
              <a:t>戰術：對齊定價、錯開時程</a:t>
            </a:r>
          </a:p>
          <a:p>
            <a:pPr>
              <a:lnSpc>
                <a:spcPct val="150000"/>
              </a:lnSpc>
            </a:pPr>
            <a:r>
              <a:rPr sz="115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150">
                <a:solidFill>
                  <a:srgbClr val="4A3210"/>
                </a:solidFill>
                <a:latin typeface="Microsoft JhengHei"/>
                <a:ea typeface="Microsoft JhengHei"/>
              </a:rPr>
              <a:t>資訊管道：宗硯輔銷 = 璞域客戶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645920"/>
            <a:ext cx="3657600" cy="411480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783080"/>
            <a:ext cx="36576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4A3210"/>
                </a:solidFill>
                <a:latin typeface="Microsoft JhengHei"/>
                <a:ea typeface="Microsoft JhengHei"/>
              </a:rPr>
              <a:t>真正競品 (千萬內)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377440"/>
            <a:ext cx="3383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15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150">
                <a:solidFill>
                  <a:srgbClr val="4A3210"/>
                </a:solidFill>
                <a:latin typeface="Microsoft JhengHei"/>
                <a:ea typeface="Microsoft JhengHei"/>
              </a:rPr>
              <a:t>古亭郡（870 萬｜19.1 萬）</a:t>
            </a:r>
          </a:p>
          <a:p>
            <a:pPr>
              <a:lnSpc>
                <a:spcPct val="150000"/>
              </a:lnSpc>
            </a:pPr>
            <a:r>
              <a:rPr sz="115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150">
                <a:solidFill>
                  <a:srgbClr val="4A3210"/>
                </a:solidFill>
                <a:latin typeface="Microsoft JhengHei"/>
                <a:ea typeface="Microsoft JhengHei"/>
              </a:rPr>
              <a:t>麒美紅葉（995 萬｜19.6 萬）</a:t>
            </a:r>
          </a:p>
          <a:p>
            <a:pPr>
              <a:lnSpc>
                <a:spcPct val="150000"/>
              </a:lnSpc>
            </a:pPr>
            <a:r>
              <a:rPr sz="115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150">
                <a:solidFill>
                  <a:srgbClr val="4A3210"/>
                </a:solidFill>
                <a:latin typeface="Microsoft JhengHei"/>
                <a:ea typeface="Microsoft JhengHei"/>
              </a:rPr>
              <a:t>艾利永美（1,078 萬｜22.7 萬）</a:t>
            </a:r>
          </a:p>
          <a:p>
            <a:pPr>
              <a:lnSpc>
                <a:spcPct val="150000"/>
              </a:lnSpc>
            </a:pPr>
            <a:r>
              <a:rPr sz="115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150">
                <a:solidFill>
                  <a:srgbClr val="4A3210"/>
                </a:solidFill>
                <a:latin typeface="Microsoft JhengHei"/>
                <a:ea typeface="Microsoft JhengHei"/>
              </a:rPr>
              <a:t>赫宇聯勤2（1,018 萬）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645920"/>
            <a:ext cx="3657600" cy="411480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783080"/>
            <a:ext cx="36576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4A3210"/>
                </a:solidFill>
                <a:latin typeface="Microsoft JhengHei"/>
                <a:ea typeface="Microsoft JhengHei"/>
              </a:rPr>
              <a:t>鼎弘自有戰績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377440"/>
            <a:ext cx="3383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15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150">
                <a:solidFill>
                  <a:srgbClr val="4A3210"/>
                </a:solidFill>
                <a:latin typeface="Microsoft JhengHei"/>
                <a:ea typeface="Microsoft JhengHei"/>
              </a:rPr>
              <a:t>玉田森活1（30 戶｜930 萬 完銷）</a:t>
            </a:r>
          </a:p>
          <a:p>
            <a:pPr>
              <a:lnSpc>
                <a:spcPct val="150000"/>
              </a:lnSpc>
            </a:pPr>
            <a:r>
              <a:rPr sz="115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150">
                <a:solidFill>
                  <a:srgbClr val="4A3210"/>
                </a:solidFill>
                <a:latin typeface="Microsoft JhengHei"/>
                <a:ea typeface="Microsoft JhengHei"/>
              </a:rPr>
              <a:t>玉田森活2（14 戶｜1,513 萬 完銷）</a:t>
            </a:r>
          </a:p>
          <a:p>
            <a:pPr>
              <a:lnSpc>
                <a:spcPct val="150000"/>
              </a:lnSpc>
            </a:pPr>
            <a:r>
              <a:rPr sz="115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150">
                <a:solidFill>
                  <a:srgbClr val="4A3210"/>
                </a:solidFill>
                <a:latin typeface="Microsoft JhengHei"/>
                <a:ea typeface="Microsoft JhengHei"/>
              </a:rPr>
              <a:t>學進賦（10 戶｜587 萬 完銷）</a:t>
            </a:r>
          </a:p>
          <a:p>
            <a:pPr>
              <a:lnSpc>
                <a:spcPct val="150000"/>
              </a:lnSpc>
            </a:pPr>
            <a:r>
              <a:rPr sz="115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150">
                <a:solidFill>
                  <a:srgbClr val="4A3210"/>
                </a:solidFill>
                <a:latin typeface="Microsoft JhengHei"/>
                <a:ea typeface="Microsoft JhengHei"/>
              </a:rPr>
              <a:t>三案皆完銷 = 鼎弘品牌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943600"/>
            <a:ext cx="11247120" cy="548640"/>
          </a:xfrm>
          <a:prstGeom prst="rect">
            <a:avLst/>
          </a:prstGeom>
          <a:solidFill>
            <a:srgbClr val="4A3210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</a:rPr>
              <a:t>戰術：對齊宗硯定價 21 萬｜時程錯開 1~2 季｜真正要競爭的是古亭郡和麒美紅葉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3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04　視覺、命名、字標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業主已選方向 — 璞域推薦下一步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685800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類別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推薦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說明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6858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命名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中道森活｜栖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業主初步方向「中道森活」延續玉田森活；副標「栖」鎖定三組 TA 共通價值「想要一個落腳的家」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6858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主視覺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v7 金黃·古典玫瑰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業主先前選定。全客層覆蓋最廣，印刷與數位皆強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字標系統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中道森活｜栖 字標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宋體本位、東方氣質、可橫式/直式/堆疊三變體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6858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色彩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金黃 + 深棕 + 米白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主色：#E8AC1B｜深棕：#4A3210｜米白：#FFF8E7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延伸副系列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v5 湖青｜v2 普藍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高端精品場景使用（看屋會館貴賓室、年節限定 DM）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字標、海報、文案、影音腳本皆已完成 v0.1 草案，業主決定方向後可立即量產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4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05　銷售節奏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4 階段｜預估 18~24 個月完銷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2651760" cy="347472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2651760" cy="7772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4A3210"/>
                </a:solidFill>
                <a:latin typeface="Microsoft JhengHei"/>
                <a:ea typeface="Microsoft JhengHei"/>
              </a:rPr>
              <a:t>Phase 1</a:t>
            </a:r>
          </a:p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4A3210"/>
                </a:solidFill>
                <a:latin typeface="Microsoft JhengHei"/>
                <a:ea typeface="Microsoft JhengHei"/>
              </a:rPr>
              <a:t>暖身期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265176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Q3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2286000" cy="17373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4A3210"/>
                </a:solidFill>
                <a:latin typeface="Microsoft JhengHei"/>
                <a:ea typeface="Microsoft JhengHei"/>
              </a:rPr>
              <a:t>5 戶｜TA 2 為主</a:t>
            </a:r>
          </a:p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4A3210"/>
                </a:solidFill>
                <a:latin typeface="Microsoft JhengHei"/>
                <a:ea typeface="Microsoft JhengHei"/>
              </a:rPr>
              <a:t>壓低單價、建立能見度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691640"/>
            <a:ext cx="2651760" cy="347472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1828800"/>
            <a:ext cx="2651760" cy="7772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4A3210"/>
                </a:solidFill>
                <a:latin typeface="Microsoft JhengHei"/>
                <a:ea typeface="Microsoft JhengHei"/>
              </a:rPr>
              <a:t>Phase 2</a:t>
            </a:r>
          </a:p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4A3210"/>
                </a:solidFill>
                <a:latin typeface="Microsoft JhengHei"/>
                <a:ea typeface="Microsoft JhengHei"/>
              </a:rPr>
              <a:t>主力期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651760"/>
            <a:ext cx="265176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Q4 2026~Q1 2027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3246120"/>
            <a:ext cx="2286000" cy="17373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4A3210"/>
                </a:solidFill>
                <a:latin typeface="Microsoft JhengHei"/>
                <a:ea typeface="Microsoft JhengHei"/>
              </a:rPr>
              <a:t>12 戶｜TA 1 為主</a:t>
            </a:r>
          </a:p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4A3210"/>
                </a:solidFill>
                <a:latin typeface="Microsoft JhengHei"/>
                <a:ea typeface="Microsoft JhengHei"/>
              </a:rPr>
              <a:t>主力廣告、媒體曝光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691640"/>
            <a:ext cx="2651760" cy="3474720"/>
          </a:xfrm>
          <a:prstGeom prst="rect">
            <a:avLst/>
          </a:prstGeom>
          <a:solidFill>
            <a:srgbClr val="E8AC1B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1828800"/>
            <a:ext cx="2651760" cy="7772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</a:rPr>
              <a:t>Phase 3</a:t>
            </a:r>
          </a:p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</a:rPr>
              <a:t>精品期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651760"/>
            <a:ext cx="265176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Q2~Q3 2027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246120"/>
            <a:ext cx="2286000" cy="17373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FFFFFF"/>
                </a:solidFill>
                <a:latin typeface="Microsoft JhengHei"/>
                <a:ea typeface="Microsoft JhengHei"/>
              </a:rPr>
              <a:t>5 戶｜TA 3 為主</a:t>
            </a:r>
          </a:p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FFFFFF"/>
                </a:solidFill>
                <a:latin typeface="Microsoft JhengHei"/>
                <a:ea typeface="Microsoft JhengHei"/>
              </a:rPr>
              <a:t>品牌溢價、單客深度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23959" y="1691640"/>
            <a:ext cx="2651760" cy="347472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23959" y="1828800"/>
            <a:ext cx="2651760" cy="7772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4A3210"/>
                </a:solidFill>
                <a:latin typeface="Microsoft JhengHei"/>
                <a:ea typeface="Microsoft JhengHei"/>
              </a:rPr>
              <a:t>Phase 4</a:t>
            </a:r>
          </a:p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4A3210"/>
                </a:solidFill>
                <a:latin typeface="Microsoft JhengHei"/>
                <a:ea typeface="Microsoft JhengHei"/>
              </a:rPr>
              <a:t>收尾期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59" y="2651760"/>
            <a:ext cx="265176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Q4 2027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39" y="3246120"/>
            <a:ext cx="2286000" cy="17373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4A3210"/>
                </a:solidFill>
                <a:latin typeface="Microsoft JhengHei"/>
                <a:ea typeface="Microsoft JhengHei"/>
              </a:rPr>
              <a:t>5 戶｜混合</a:t>
            </a:r>
          </a:p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4A3210"/>
                </a:solidFill>
                <a:latin typeface="Microsoft JhengHei"/>
                <a:ea typeface="Microsoft JhengHei"/>
              </a:rPr>
              <a:t>口碑、彈性議價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4A3210"/>
                </a:solidFill>
                <a:latin typeface="Microsoft JhengHei"/>
                <a:ea typeface="Microsoft JhengHei"/>
              </a:rPr>
              <a:t>對標：鼎弘玉田森活 1（30 戶 / 2 年完銷）— 模型可直接複製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555555"/>
                </a:solidFill>
                <a:latin typeface="Microsoft JhengHei"/>
                <a:ea typeface="Microsoft JhengHei"/>
              </a:rPr>
              <a:t>與宗硯大砌（2026 Q2 衝刺）錯開 1~2 季，不打架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5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06　核心故事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TA1 林先生的一天 — 5 行說完位置價值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1247120" cy="228600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972800" cy="20116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>
              <a:lnSpc>
                <a:spcPct val="170000"/>
              </a:lnSpc>
            </a:pPr>
            <a:r>
              <a:rPr sz="1500" b="0">
                <a:solidFill>
                  <a:srgbClr val="4A3210"/>
                </a:solidFill>
                <a:latin typeface="Microsoft JhengHei"/>
                <a:ea typeface="Microsoft JhengHei"/>
              </a:rPr>
              <a:t>「在台北 8 年，我們每月房租 30,000、通勤 90 分鐘。</a:t>
            </a:r>
          </a:p>
          <a:p>
            <a:pPr>
              <a:lnSpc>
                <a:spcPct val="170000"/>
              </a:lnSpc>
            </a:pPr>
            <a:r>
              <a:rPr sz="1500" b="0">
                <a:solidFill>
                  <a:srgbClr val="4A3210"/>
                </a:solidFill>
                <a:latin typeface="Microsoft JhengHei"/>
                <a:ea typeface="Microsoft JhengHei"/>
              </a:rPr>
              <a:t>搬回壯圍後：房貸 30,000、通勤一週兩次。</a:t>
            </a:r>
          </a:p>
          <a:p>
            <a:pPr>
              <a:lnSpc>
                <a:spcPct val="170000"/>
              </a:lnSpc>
            </a:pPr>
            <a:r>
              <a:rPr sz="1500" b="0">
                <a:solidFill>
                  <a:srgbClr val="4A3210"/>
                </a:solidFill>
                <a:latin typeface="Microsoft JhengHei"/>
                <a:ea typeface="Microsoft JhengHei"/>
              </a:rPr>
              <a:t>省下的時間，是和爸媽、孩子的時間。」</a:t>
            </a:r>
          </a:p>
          <a:p>
            <a:pPr>
              <a:lnSpc>
                <a:spcPct val="170000"/>
              </a:lnSpc>
            </a:pPr>
            <a:r>
              <a:rPr sz="1500" b="0">
                <a:solidFill>
                  <a:srgbClr val="4A3210"/>
                </a:solidFill>
                <a:latin typeface="Microsoft JhengHei"/>
                <a:ea typeface="Microsoft JhengHei"/>
              </a:rPr>
              <a:t>—— 中道森活｜千萬內｜3 層透天｜27 戶｜2026 預售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297680"/>
            <a:ext cx="3657600" cy="1554480"/>
          </a:xfrm>
          <a:prstGeom prst="rect">
            <a:avLst/>
          </a:prstGeom>
          <a:solidFill>
            <a:srgbClr val="FFF8E7"/>
          </a:solidFill>
          <a:ln w="9525">
            <a:solidFill>
              <a:srgbClr val="8B3A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434840"/>
            <a:ext cx="36576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8B3A0F"/>
                </a:solidFill>
                <a:latin typeface="Microsoft JhengHei"/>
                <a:ea typeface="Microsoft JhengHei"/>
              </a:rPr>
              <a:t>學區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37760"/>
            <a:ext cx="3291840" cy="8686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45000"/>
              </a:lnSpc>
            </a:pPr>
            <a:r>
              <a:rPr sz="1200" b="0">
                <a:solidFill>
                  <a:srgbClr val="4A3210"/>
                </a:solidFill>
                <a:latin typeface="Microsoft JhengHei"/>
                <a:ea typeface="Microsoft JhengHei"/>
              </a:rPr>
              <a:t>公館 / 壯圍國小 4~5 分鐘車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4297680"/>
            <a:ext cx="3657600" cy="155448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4434840"/>
            <a:ext cx="36576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4A3210"/>
                </a:solidFill>
                <a:latin typeface="Microsoft JhengHei"/>
                <a:ea typeface="Microsoft JhengHei"/>
              </a:rPr>
              <a:t>通勤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4937760"/>
            <a:ext cx="3291840" cy="8686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45000"/>
              </a:lnSpc>
            </a:pPr>
            <a:r>
              <a:rPr sz="1200" b="0">
                <a:solidFill>
                  <a:srgbClr val="4A3210"/>
                </a:solidFill>
                <a:latin typeface="Microsoft JhengHei"/>
                <a:ea typeface="Microsoft JhengHei"/>
              </a:rPr>
              <a:t>國道5 8 分｜雪隧到台北 50 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4297680"/>
            <a:ext cx="3657600" cy="1554480"/>
          </a:xfrm>
          <a:prstGeom prst="rect">
            <a:avLst/>
          </a:prstGeom>
          <a:solidFill>
            <a:srgbClr val="FFF8E7"/>
          </a:solidFill>
          <a:ln w="9525">
            <a:solidFill>
              <a:srgbClr val="8B3A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4434840"/>
            <a:ext cx="36576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8B3A0F"/>
                </a:solidFill>
                <a:latin typeface="Microsoft JhengHei"/>
                <a:ea typeface="Microsoft JhengHei"/>
              </a:rPr>
              <a:t>生活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4937760"/>
            <a:ext cx="3291840" cy="8686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45000"/>
              </a:lnSpc>
            </a:pPr>
            <a:r>
              <a:rPr sz="1200" b="0">
                <a:solidFill>
                  <a:srgbClr val="4A3210"/>
                </a:solidFill>
                <a:latin typeface="Microsoft JhengHei"/>
                <a:ea typeface="Microsoft JhengHei"/>
              </a:rPr>
              <a:t>壯圍沙丘 7 分、夢時代 13 分、醫院 14 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555555"/>
                </a:solidFill>
                <a:latin typeface="Microsoft JhengHei"/>
                <a:ea typeface="Microsoft JhengHei"/>
              </a:rPr>
              <a:t>完整機能光束圖（26 機能點、5 圈距離）詳 deck 08；故事擴寫成短影音腳本詳 deck 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6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07　行銷預算與資源需求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全案 280 萬｜總銷的 1.25%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00050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項目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預算 (萬)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佔比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說明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40005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數位廣告 (FB/IG/Google)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120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43%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主力 TA1+TA2 投放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</a:tr>
              <a:tr h="40005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短影音製作 (3 版本)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30s/60s/90s 一次拍攝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591 + 房產垂直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30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11%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12 個月案件頁 + 推薦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40005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實體 DM / 戶外 / 夾報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在地 TA2 + 雙北 TA3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看屋會館製作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30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11%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海報、模型、實品屋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</a:tr>
              <a:tr h="40005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公關活動 / 口碑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開賣記者會、屋主聯誼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業主自留彈性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10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3%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突發應變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4937760"/>
            <a:ext cx="11247120" cy="137160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02920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400" b="1">
                <a:solidFill>
                  <a:srgbClr val="8B3A0F"/>
                </a:solidFill>
                <a:latin typeface="Microsoft JhengHei"/>
                <a:ea typeface="Microsoft JhengHei"/>
              </a:rPr>
              <a:t>預算 ROI 預估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4406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00">
                <a:solidFill>
                  <a:srgbClr val="4A3210"/>
                </a:solidFill>
                <a:latin typeface="Microsoft JhengHei"/>
                <a:ea typeface="Microsoft JhengHei"/>
              </a:rPr>
              <a:t>全案總銷 2.24 億｜行銷預算 280 萬 = 1.25%（透天案合理區間 1~2%）</a:t>
            </a:r>
          </a:p>
          <a:p>
            <a:pPr>
              <a:lnSpc>
                <a:spcPct val="135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00">
                <a:solidFill>
                  <a:srgbClr val="4A3210"/>
                </a:solidFill>
                <a:latin typeface="Microsoft JhengHei"/>
                <a:ea typeface="Microsoft JhengHei"/>
              </a:rPr>
              <a:t>每戶 marketing cost 約 10.4 萬｜每戶毛利約 200 萬+，ROI 約 19 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7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08　下一步 — 五項待業主決策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今天會議後可立即推動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685800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#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決策項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璞域建議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業主決定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6858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3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3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案名定案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3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中道森活｜栖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3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_______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6858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3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3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主視覺定案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3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v7 金黃·玫瑰（同業主先前方向）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3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_______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3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3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建議主力單價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3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21.0 萬/坪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3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_______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6858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3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3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行銷預算上限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3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280 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3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_______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3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5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3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Phase 1 啟動時點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3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2026 Q3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3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_______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4A3210"/>
                </a:solidFill>
                <a:latin typeface="Microsoft JhengHei"/>
                <a:ea typeface="Microsoft JhengHei"/>
              </a:rPr>
              <a:t>決定後璞域 2 週內提供：宗硯輔銷協同會議、看屋會館設計圖、廣告投放計畫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555555"/>
                </a:solidFill>
                <a:latin typeface="Microsoft JhengHei"/>
                <a:ea typeface="Microsoft JhengHei"/>
              </a:rPr>
              <a:t>璞域品牌策略｜www.pure-branding.com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8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