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5.jpg"/><Relationship Id="rId5" Type="http://schemas.openxmlformats.org/officeDocument/2006/relationships/image" Target="../media/image7.jpg"/><Relationship Id="rId6" Type="http://schemas.openxmlformats.org/officeDocument/2006/relationships/image" Target="../media/image2.jpg"/><Relationship Id="rId7" Type="http://schemas.openxmlformats.org/officeDocument/2006/relationships/image" Target="../media/image4.jpg"/><Relationship Id="rId8" Type="http://schemas.openxmlformats.org/officeDocument/2006/relationships/image" Target="../media/image6.jpg"/><Relationship Id="rId9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4A3210"/>
                </a:solidFill>
                <a:latin typeface="Microsoft JhengHei"/>
                <a:ea typeface="Microsoft JhengHei"/>
              </a:rPr>
              <a:t>鼎弘建設 × 璞域品牌策略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4A3210"/>
                </a:solidFill>
                <a:latin typeface="Microsoft JhengHei"/>
                <a:ea typeface="Microsoft JhengHei"/>
              </a:rPr>
              <a:t>中 道 森 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3210"/>
                </a:solidFill>
                <a:latin typeface="Microsoft JhengHei"/>
                <a:ea typeface="Microsoft JhengHei"/>
              </a:rPr>
              <a:t>主視覺 8 色提案說明簡報　Visual Direction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754880"/>
            <a:ext cx="9144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壯圍鄉五權段｜27 戶｜透天 3 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簡報目錄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01　8 版本一覽 — 8 個方向、2 個花卉系統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02　兩大花卉系統 — 玫瑰系 vs 水仙系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03~10　逐一說明（每版本：色彩、情緒、客群、適用通路）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11　8 版本 × 客群對應矩陣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12　TOP 3 推薦排序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13　落地使用建議 — 哪個通路用哪個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14　下一步行動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01　8 版本一覽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業主提供之 8 色彩 / 花卉組合提案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2697480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2880360"/>
            <a:ext cx="269748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v1　酒紅·古典玫瑰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8740" y="3200400"/>
            <a:ext cx="274320" cy="164592"/>
          </a:xfrm>
          <a:prstGeom prst="rect">
            <a:avLst/>
          </a:prstGeom>
          <a:solidFill>
            <a:srgbClr val="8D3F32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3172968"/>
            <a:ext cx="1097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Courier New"/>
                <a:ea typeface="Courier New"/>
              </a:rPr>
              <a:t>#8D3F32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169164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1691640"/>
            <a:ext cx="2697480" cy="1143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72968" y="2880360"/>
            <a:ext cx="269748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v2　普魯士藍·水仙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55948" y="3200400"/>
            <a:ext cx="274320" cy="164592"/>
          </a:xfrm>
          <a:prstGeom prst="rect">
            <a:avLst/>
          </a:prstGeom>
          <a:solidFill>
            <a:srgbClr val="39527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5988" y="3172968"/>
            <a:ext cx="1097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Courier New"/>
                <a:ea typeface="Courier New"/>
              </a:rPr>
              <a:t>#395277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0176" y="169164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691640"/>
            <a:ext cx="2697480" cy="1143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0176" y="2880360"/>
            <a:ext cx="269748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v3　森林綠·古典玫瑰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63156" y="3200400"/>
            <a:ext cx="274320" cy="164592"/>
          </a:xfrm>
          <a:prstGeom prst="rect">
            <a:avLst/>
          </a:prstGeom>
          <a:solidFill>
            <a:srgbClr val="325C34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3196" y="3172968"/>
            <a:ext cx="1097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Courier New"/>
                <a:ea typeface="Courier New"/>
              </a:rPr>
              <a:t>#325C34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7384" y="169164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v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7384" y="1691640"/>
            <a:ext cx="2697480" cy="1143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87384" y="2880360"/>
            <a:ext cx="269748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v4　霧灰藍·水仙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70364" y="3200400"/>
            <a:ext cx="274320" cy="164592"/>
          </a:xfrm>
          <a:prstGeom prst="rect">
            <a:avLst/>
          </a:prstGeom>
          <a:solidFill>
            <a:srgbClr val="C0CBD1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0404" y="3172968"/>
            <a:ext cx="1097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Courier New"/>
                <a:ea typeface="Courier New"/>
              </a:rPr>
              <a:t>#C0CBD1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747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v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474720"/>
            <a:ext cx="2697480" cy="1143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65760" y="4663440"/>
            <a:ext cx="269748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v5　湖青·古典玫瑰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48740" y="4983480"/>
            <a:ext cx="274320" cy="164592"/>
          </a:xfrm>
          <a:prstGeom prst="rect">
            <a:avLst/>
          </a:prstGeom>
          <a:solidFill>
            <a:srgbClr val="3A7B90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68780" y="4956048"/>
            <a:ext cx="1097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Courier New"/>
                <a:ea typeface="Courier New"/>
              </a:rPr>
              <a:t>#3A7B90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2968" y="34747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v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2968" y="3474720"/>
            <a:ext cx="2697480" cy="1143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172968" y="4663440"/>
            <a:ext cx="269748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v6　橄欖綠·水仙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55948" y="4983480"/>
            <a:ext cx="274320" cy="164592"/>
          </a:xfrm>
          <a:prstGeom prst="rect">
            <a:avLst/>
          </a:prstGeom>
          <a:solidFill>
            <a:srgbClr val="707952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75988" y="4956048"/>
            <a:ext cx="1097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Courier New"/>
                <a:ea typeface="Courier New"/>
              </a:rPr>
              <a:t>#707952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0176" y="34747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v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0176" y="3474720"/>
            <a:ext cx="2697480" cy="1143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980176" y="4663440"/>
            <a:ext cx="269748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v7　金黃·古典玫瑰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63156" y="4983480"/>
            <a:ext cx="274320" cy="164592"/>
          </a:xfrm>
          <a:prstGeom prst="rect">
            <a:avLst/>
          </a:prstGeom>
          <a:solidFill>
            <a:srgbClr val="EABE46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83196" y="4956048"/>
            <a:ext cx="1097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Courier New"/>
                <a:ea typeface="Courier New"/>
              </a:rPr>
              <a:t>#EABE46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87384" y="34747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v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7384" y="3474720"/>
            <a:ext cx="2697480" cy="1143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787384" y="4663440"/>
            <a:ext cx="2697480" cy="29260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4A3210"/>
                </a:solidFill>
                <a:latin typeface="Microsoft JhengHei"/>
                <a:ea typeface="Microsoft JhengHei"/>
              </a:rPr>
              <a:t>v8　金黃·水仙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70364" y="4983480"/>
            <a:ext cx="274320" cy="164592"/>
          </a:xfrm>
          <a:prstGeom prst="rect">
            <a:avLst/>
          </a:prstGeom>
          <a:solidFill>
            <a:srgbClr val="EBBD42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90404" y="4956048"/>
            <a:ext cx="1097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Courier New"/>
                <a:ea typeface="Courier New"/>
              </a:rPr>
              <a:t>#EBBD42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縮圖切割自業主提供之 38fe0ccf-557748.jpg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2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02　兩大花卉系統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8 版本可分為兩條設計路線 — 玫瑰系（典藏感）vs 水仙系（明朗感）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94960" cy="48463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394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玫瑰系｜白玫瑰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394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v1 v3 v5 v7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2286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2286000" cy="12801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108960" y="2606040"/>
            <a:ext cx="2286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606040"/>
            <a:ext cx="228600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40080" y="4069080"/>
            <a:ext cx="2286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69080"/>
            <a:ext cx="2286000" cy="12801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108960" y="4069080"/>
            <a:ext cx="2286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v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4069080"/>
            <a:ext cx="2286000" cy="12801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5486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氣質：典雅、東方、靜謐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對應：TA3 退休 ＋ 高端 TA1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印刷感最強，戶外效果穩定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554480"/>
            <a:ext cx="5394960" cy="48463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91640"/>
            <a:ext cx="5394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水仙系｜黃水仙＋鬱金香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94560"/>
            <a:ext cx="5394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v2 v4 v6 v8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606040"/>
            <a:ext cx="2286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v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606040"/>
            <a:ext cx="2286000" cy="12801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961120" y="2606040"/>
            <a:ext cx="2286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2606040"/>
            <a:ext cx="2286000" cy="12801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492240" y="4069080"/>
            <a:ext cx="2286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v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069080"/>
            <a:ext cx="2286000" cy="128016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8961120" y="4069080"/>
            <a:ext cx="22860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v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0" y="4069080"/>
            <a:ext cx="2286000" cy="12801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92240" y="5486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氣質：明朗、輕盈、北歐插畫感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對應：TA1 返鄉 ＋ TA2 在地</a:t>
            </a:r>
          </a:p>
          <a:p>
            <a:pPr>
              <a:lnSpc>
                <a:spcPct val="135000"/>
              </a:lnSpc>
            </a:pPr>
            <a:r>
              <a:rPr sz="11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150">
                <a:solidFill>
                  <a:srgbClr val="4A3210"/>
                </a:solidFill>
                <a:latin typeface="Microsoft JhengHei"/>
                <a:ea typeface="Microsoft JhengHei"/>
              </a:rPr>
              <a:t>數位/社群效果最強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兩系統可單獨使用，亦可組合（如「主視覺=玫瑰系、社群=水仙系」分通路投放）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3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v1　酒紅·古典玫瑰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玫瑰系｜#8D3F32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80467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04672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86800" y="1554480"/>
            <a:ext cx="3017520" cy="33832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solidFill>
            <a:srgbClr val="8D3F32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Courier New"/>
                <a:ea typeface="Courier New"/>
              </a:rPr>
              <a:t>#8D3F32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606039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情緒詞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92608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沉穩　·　典雅　·　莊重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383280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主對應 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703320"/>
            <a:ext cx="26517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TA 3 退休置產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29768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印刷適用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429768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57200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數位適用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457200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85232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璞域評語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高端文化氣質。如同博物館圖鑑封面，傳遞「傳家」「典藏」訊息。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4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04　v2　普魯士藍·水仙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水仙系｜#395277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80467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04672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86800" y="1554480"/>
            <a:ext cx="3017520" cy="33832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solidFill>
            <a:srgbClr val="39527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Courier New"/>
                <a:ea typeface="Courier New"/>
              </a:rPr>
              <a:t>#395277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606039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情緒詞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92608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靜謐　·　知性　·　克制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383280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主對應 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703320"/>
            <a:ext cx="26517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TA 3 退休置產 / 高端 TA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29768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印刷適用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429768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57200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數位適用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457200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85232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璞域評語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深藍×黃花的歐洲博物學插畫感。最有品牌獨特性，但暗色印刷成本較高。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5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　v3　森林綠·古典玫瑰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玫瑰系｜#325C34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80467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04672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86800" y="1554480"/>
            <a:ext cx="3017520" cy="33832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solidFill>
            <a:srgbClr val="325C34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Courier New"/>
                <a:ea typeface="Courier New"/>
              </a:rPr>
              <a:t>#325C34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606039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情緒詞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92608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沉著　·　自然　·　穩定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383280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主對應 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703320"/>
            <a:ext cx="26517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TA 3 退休置產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29768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印刷適用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429768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57200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數位適用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457200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85232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璞域評語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深綠承接「森活」字意，與宜蘭自然意象呼應。略偏成熟、年輕客層可能無感。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6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　v4　霧灰藍·水仙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水仙系｜#C0CBD1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80467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04672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86800" y="1554480"/>
            <a:ext cx="3017520" cy="33832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solidFill>
            <a:srgbClr val="C0CBD1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Courier New"/>
                <a:ea typeface="Courier New"/>
              </a:rPr>
              <a:t>#C0CBD1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606039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情緒詞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92608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輕盈　·　清新　·　現代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383280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主對應 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703320"/>
            <a:ext cx="26517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TA 1 返鄉換屋 / TA 2 在地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29768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印刷適用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429768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57200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數位適用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457200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★★★★★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85232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璞域評語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最現代、最年輕。網路曝光優勢大，但實體招牌略顯弱、品牌記憶點低。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7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07　v5　湖青·古典玫瑰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玫瑰系｜#3A7B90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80467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04672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86800" y="1554480"/>
            <a:ext cx="3017520" cy="33832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solidFill>
            <a:srgbClr val="3A7B90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Courier New"/>
                <a:ea typeface="Courier New"/>
              </a:rPr>
              <a:t>#3A7B90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606039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情緒詞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92608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寧靜　·　深邃　·　東方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383280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主對應 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703320"/>
            <a:ext cx="26517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TA 3 退休置產 / 高端 TA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29768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印刷適用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429768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57200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數位適用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457200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85232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璞域評語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水墨意境＋玫瑰，東方氣質最濃。與業主希望的「在繁華中收藏寧靜」高度契合。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8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08　v6　橄欖綠·水仙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水仙系｜#707952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80467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04672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86800" y="1554480"/>
            <a:ext cx="3017520" cy="33832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solidFill>
            <a:srgbClr val="707952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Courier New"/>
                <a:ea typeface="Courier New"/>
              </a:rPr>
              <a:t>#707952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606039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情緒詞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92608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沉澱　·　自然　·　成熟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383280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主對應 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703320"/>
            <a:ext cx="26517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TA 1 返鄉換屋 / TA 3 退休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29768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印刷適用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429768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57200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數位適用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457200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85232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璞域評語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橄欖綠較少建案使用，識別度高。情緒偏低調奢華，跨客層接受度好。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9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09　v7　金黃·古典玫瑰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玫瑰系｜#EABE46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80467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04672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86800" y="1554480"/>
            <a:ext cx="3017520" cy="33832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solidFill>
            <a:srgbClr val="EABE46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Courier New"/>
                <a:ea typeface="Courier New"/>
              </a:rPr>
              <a:t>#EABE46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606039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情緒詞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92608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溫暖　·　明亮　·　豐盛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383280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主對應 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703320"/>
            <a:ext cx="26517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TA 1 返鄉換屋 / TA 2 在地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29768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印刷適用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429768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57200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數位適用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457200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★★★★★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85232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璞域評語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業主先前主推版本。最明亮溫暖，全客層皆能接受，戶外與數位皆強。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10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10　v8　金黃·水仙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水仙系｜#EBBD42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80467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804672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86800" y="1554480"/>
            <a:ext cx="3017520" cy="33832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solidFill>
            <a:srgbClr val="EBBD42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737360"/>
            <a:ext cx="2651760" cy="7315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Courier New"/>
                <a:ea typeface="Courier New"/>
              </a:rPr>
              <a:t>#EBBD42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606039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情緒詞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92608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明亮　·　歡愉　·　親切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383280"/>
            <a:ext cx="265176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主對應 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703320"/>
            <a:ext cx="26517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TA 1 返鄉換屋 / TA 2 在地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29768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印刷適用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429768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57200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icrosoft JhengHei"/>
                <a:ea typeface="Microsoft JhengHei"/>
              </a:rPr>
              <a:t>數位適用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4572000"/>
            <a:ext cx="15544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★★★★★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66360"/>
            <a:ext cx="11247120" cy="11887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85232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璞域評語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250" b="0">
                <a:solidFill>
                  <a:srgbClr val="4A3210"/>
                </a:solidFill>
                <a:latin typeface="Microsoft JhengHei"/>
                <a:ea typeface="Microsoft JhengHei"/>
              </a:rPr>
              <a:t>同 v7 色基底，但花材改水仙，視覺更輕盈年輕。與 v7 可作系列搭配。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11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11　8 版本 × 客群對應矩陣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縱軸 = 客群｜橫軸 = 版本｜★ 數量 = 契合度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554480"/>
          <a:ext cx="11612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</a:tblGrid>
              <a:tr h="8001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/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v1
酒紅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v2
普藍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v3
森綠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v4
霧灰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v5
湖青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v6
橄欖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v7
金黃Rose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v8
金黃水仙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8001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1 返鄉換屋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8001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2 在地二代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 3 退休置產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★★★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83480"/>
            <a:ext cx="11247120" cy="13716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矩陣解讀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若主打全客層 → v7 / v8（金黃系）契合度最廣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若主打高客單（TA3） → v1 / v2 / v3 / v5 是最強選項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若想兼顧 → 用 v7 為主視覺、v2 或 v5 為「精品系列」副視覺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12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12　TOP 3 推薦排序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綜合三組 TA 涵蓋度 + 通路效果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1417320"/>
          </a:xfrm>
          <a:prstGeom prst="rect">
            <a:avLst/>
          </a:prstGeom>
          <a:solidFill>
            <a:srgbClr val="E8AC1B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01368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01368"/>
            <a:ext cx="2194560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17520" y="1856232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第一推薦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194560"/>
            <a:ext cx="640080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v7　金黃·古典玫瑰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51760"/>
            <a:ext cx="813816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</a:rPr>
              <a:t>全客層接受度最高｜印刷與數位皆強｜業主先前選定方向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11247120" cy="14173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310128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10128"/>
            <a:ext cx="2194560" cy="1188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17520" y="3364992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第二推薦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03320"/>
            <a:ext cx="640080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v5　湖青·古典玫瑰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160520"/>
            <a:ext cx="813816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東方氣質最濃｜契合主文案「在繁華中收藏寧靜」｜TA3 主力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09160"/>
            <a:ext cx="11247120" cy="14173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818888"/>
            <a:ext cx="21945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818888"/>
            <a:ext cx="2194560" cy="11887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017520" y="4873752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第三推薦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212080"/>
            <a:ext cx="640080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v2　普魯士藍·水仙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669280"/>
            <a:ext cx="813816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獨特性最高｜博物學插畫感｜可作精品副視覺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13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13　落地使用建議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若選 v7 為主視覺 — 其他版本如何被使用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通路 / 載體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建議版本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理由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接待會館主視覺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v7（金黃Rose）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戶外辨識度最高，全客層覆蓋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大型戶外帆布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色彩飽和、遠距視認佳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DM / 售屋手冊封面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v7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印刷成本可控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591 案件首圖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v8（金黃水仙）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輕盈年輕，網路曝光更佳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Facebook 廣告投放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v8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明亮、適合動態縮圖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Instagram 帳號頭像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v4 或 v8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輕盈、適合社群調性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精品 DM / 信封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v2（普藍）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高端對應 TA3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看屋會館貴賓室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v5（湖青）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東方氣質、退休客接待氛圍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年節限定 / 開賣首發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v1（酒紅）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莊重、儀式感、限定感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原則：v7 為主、其他版本依場景互補 — 形成系列家族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14 /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14　下一步行動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視覺方向定稿 → CI 製作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96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決策項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璞域建議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業主回覆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主視覺定案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建議 v7（金黃·玫瑰）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副視覺定案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v8（社群）+ v5 或 v2（精品）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字標版本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與 v7 搭配深棕字標（已於 deck 3 提案）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字體系統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思源宋體 + 思源黑體（deck 3 細部）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向量檔交付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 版本皆可，但僅選定 1~3 個正式量產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視覺方向定稿後，後續延伸 logo、CI 系統、印刷品、數位資產約 6 週可完成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璞域品牌策略｜www.pure-branding.com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15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