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建案命名策略提案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命名前提：業主方向與客群定位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「中道」二字的雙重內涵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　「森活」二字的品牌資產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04　三條命名策略路線總覽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05　路線 A — 純延續「中道森活」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06　路線 B — 副標延伸「中道森活｜◯」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07　路線 C — 系列編號「中道森活 NO.x」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08　推薦 TOP 3 與 message 對應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09　主視覺與命名的搭配建議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10　商標／域名／法規檢查清單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11　下一步推進計畫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命名前提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從業主方向 + 客群定位反推命名標準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業主初步方向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案名：「中道森活」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延續「玉田森活」品牌系列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命名邏輯：地名 + 森活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主視覺：黃底花卉典雅插畫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主文案：「在繁華之中收藏寧靜，在日常之間遇見家的溫度」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客群定位（取自簡報 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TA1 返鄉換屋族（45%）— 30~45 歲，要 4 房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TA2 在地二代成家（35%）— 35~50 歲，要新成屋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TA3 雙北退休置產（20%）— 50+，要寧靜面寬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三組 TA 都偏「沉靜、品味、家的溫度」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命名須符合 → 安靜、優雅、不浮誇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命名標準三條：①延續品牌、②呼應主視覺、③契合客群調性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「中道」二字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地理與哲學的雙重意涵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43891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地理層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壯圍鄉「中道」為當地地段／聚落名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鄰近順和路、南北五路，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壯圍鄉內歷史聚落之一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對在地客（TA2）而言：辨識度極高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657600" cy="438912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哲學層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「中庸之道」— 不偏不倚、平衡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對應客群心境：在工作與家、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繁華與寧靜、北漂與返鄉之間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對返鄉客（TA1）與退休客（TA3）：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情感共鳴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657600" cy="43891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品牌層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231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兩字結構穩定、字形對稱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視覺上呼應主視覺花卉的均衡感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與「玉田」（地名）系列延續性強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與其他建案不易混淆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中道之於本案：地理錨點 + 心境共鳴 + 品牌延續，三重資產。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「森活」二字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鼎弘已建立的品牌資產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943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「森活」= 森林 × 生活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50">
                <a:solidFill>
                  <a:srgbClr val="4A3210"/>
                </a:solidFill>
                <a:latin typeface="Microsoft JhengHei"/>
                <a:ea typeface="Microsoft JhengHei"/>
              </a:rPr>
              <a:t>「森」字：取「叢生、繁茂」 — 對應宜蘭的綠意</a:t>
            </a:r>
          </a:p>
          <a:p>
            <a:pPr>
              <a:lnSpc>
                <a:spcPct val="150000"/>
              </a:lnSpc>
            </a:pPr>
            <a:r>
              <a:rPr sz="13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50">
                <a:solidFill>
                  <a:srgbClr val="4A3210"/>
                </a:solidFill>
                <a:latin typeface="Microsoft JhengHei"/>
                <a:ea typeface="Microsoft JhengHei"/>
              </a:rPr>
              <a:t>「活」字：取「生活的態度」 — 對應 TA 的價值觀</a:t>
            </a:r>
          </a:p>
          <a:p>
            <a:pPr>
              <a:lnSpc>
                <a:spcPct val="150000"/>
              </a:lnSpc>
            </a:pPr>
            <a:r>
              <a:rPr sz="13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50">
                <a:solidFill>
                  <a:srgbClr val="4A3210"/>
                </a:solidFill>
                <a:latin typeface="Microsoft JhengHei"/>
                <a:ea typeface="Microsoft JhengHei"/>
              </a:rPr>
              <a:t>音韻上「森活」≈「生活」雙關，記憶點高</a:t>
            </a:r>
          </a:p>
          <a:p>
            <a:pPr>
              <a:lnSpc>
                <a:spcPct val="150000"/>
              </a:lnSpc>
            </a:pPr>
            <a:r>
              <a:rPr sz="13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50">
                <a:solidFill>
                  <a:srgbClr val="4A3210"/>
                </a:solidFill>
                <a:latin typeface="Microsoft JhengHei"/>
                <a:ea typeface="Microsoft JhengHei"/>
              </a:rPr>
              <a:t>玉田森活 1 + 2 期合計 44 戶完銷 — 已有品牌 awareness</a:t>
            </a:r>
          </a:p>
          <a:p>
            <a:pPr>
              <a:lnSpc>
                <a:spcPct val="150000"/>
              </a:lnSpc>
            </a:pPr>
            <a:r>
              <a:rPr sz="13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50">
                <a:solidFill>
                  <a:srgbClr val="4A3210"/>
                </a:solidFill>
                <a:latin typeface="Microsoft JhengHei"/>
                <a:ea typeface="Microsoft JhengHei"/>
              </a:rPr>
              <a:t>新案沿用「森活」= 直接繼承玉田客群口碑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554480"/>
            <a:ext cx="484632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48463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4A3210"/>
                </a:solidFill>
                <a:latin typeface="Microsoft JhengHei"/>
                <a:ea typeface="Microsoft JhengHei"/>
              </a:rPr>
              <a:t>鼎弘「森活」系列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377440"/>
            <a:ext cx="4297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487168"/>
            <a:ext cx="41148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玉田森活 1 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8803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礁溪 30 戶 / 已完銷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520440"/>
            <a:ext cx="4297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630168"/>
            <a:ext cx="41148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玉田森活 2 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0233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礁溪 14 戶 / 已完銷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4663440"/>
            <a:ext cx="4297680" cy="914400"/>
          </a:xfrm>
          <a:prstGeom prst="rect">
            <a:avLst/>
          </a:prstGeom>
          <a:solidFill>
            <a:srgbClr val="8B3A0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773168"/>
            <a:ext cx="41148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中道森活（本案）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51663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壯圍 27 戶 / 推案中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「森活」= 鼎弘建設不可放棄的品牌資產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三條命名策略路線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依「品牌延續性」與「辨識度」雙軸定位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路線 A</a:t>
            </a:r>
          </a:p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純延續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8B3A0F"/>
                </a:solidFill>
                <a:latin typeface="Microsoft JhengHei"/>
                <a:ea typeface="Microsoft JhengHei"/>
              </a:rPr>
              <a:t>「中道森活」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極簡、直接、易讀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完全沿用業主方向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辨識度：中（會與玉田森活混淆）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657600" cy="475488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路線 B</a:t>
            </a:r>
          </a:p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副標延伸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8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8B3A0F"/>
                </a:solidFill>
                <a:latin typeface="Microsoft JhengHei"/>
                <a:ea typeface="Microsoft JhengHei"/>
              </a:rPr>
              <a:t>「中道森活 | ◯」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保留品牌系列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副標字加上獨特辨識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辨識度：高｜推薦度：★★★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6576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路線 C</a:t>
            </a:r>
          </a:p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系列編號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9748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8B3A0F"/>
                </a:solidFill>
                <a:latin typeface="Microsoft JhengHei"/>
                <a:ea typeface="Microsoft JhengHei"/>
              </a:rPr>
              <a:t>「中道森活 NO.x」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66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工業／極簡感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與玉田 1/2 同邏輯</a:t>
            </a:r>
          </a:p>
          <a:p>
            <a:pPr>
              <a:lnSpc>
                <a:spcPct val="14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辨識度：中｜年輕感較強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下三頁逐一展開每條路線的子提案。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路線 A — 純延續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「中道森活」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600" b="1">
                <a:solidFill>
                  <a:srgbClr val="4A3210"/>
                </a:solidFill>
                <a:latin typeface="Microsoft JhengHei"/>
                <a:ea typeface="Microsoft JhengHei"/>
              </a:rPr>
              <a:t>中  道  森  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Microsoft JhengHei"/>
                <a:ea typeface="Microsoft JhengHei"/>
              </a:rPr>
              <a:t>ZHONG DAO SEN HUO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5394960" cy="2560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完全延續業主品牌方向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案名極簡，辨識成本低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與玉田森活高度延續性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474720"/>
            <a:ext cx="5394960" cy="256032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61188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3A0F"/>
                </a:solidFill>
                <a:latin typeface="Microsoft JhengHei"/>
                <a:ea typeface="Microsoft JhengHei"/>
              </a:rPr>
              <a:t>顧慮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591/Google 搜尋與玉田森活混淆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若兩案銷售期重疊，客戶會問是哪一期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無獨立 narrative，僅靠地名分辨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適用情境：玉田 1 / 2 已交屋並淡出市場，本案不需獨立 narrative 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路線 B — 副標延伸 ★ 推薦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「中道森活｜◯」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副標字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全名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字意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對應 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推薦度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栖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中道森活｜栖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棲息、停靠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退休置產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序章、開始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返鄉換屋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誠意、用心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TA2 在地二代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拾光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中道森活｜拾光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拾起時光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TA1+TA3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植光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中道森活｜植光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植下陽光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TA2 年輕家庭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推薦理由：「中道森活｜栖」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「栖」承接主視覺「在繁華之中收藏寧靜」— 一個字打中三組 TA 的共同價值觀「想要一個落腳的家」。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路線 C — 系列編號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「中道森活 NO.x」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命名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賣點 / 風格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4864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NO.1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與玉田森活 1/2 同邏輯，本案=系列第三作。直觀。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4864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羅馬數字 III，呼應「鼎弘第 3 個森活」。視覺有設計感。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27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強調戶數 27 戶。年輕、極簡。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4864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中道森活｜小宇宙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4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副標走詩意路線，年輕客層共鳴。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潛在風險：系列編號顯得「公式化」，與業主希望的「典雅生活感」主視覺有違和。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建議：若選 C，建議 III（最有設計感、與羅馬數字典雅感呼應主視覺花卉）。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推薦 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與三組 TA 之 message 對應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4173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第一推薦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231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TA3 退休置產 + TA1 返鄉換屋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4805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「在繁華之中，找到一個栖息」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1417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第二推薦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9184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中道森活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93192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TA1 返鄉換屋 + TA2 在地二代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11880"/>
            <a:ext cx="44805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「鼎弘森活，第三個家的故事」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11247120" cy="1417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第三推薦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0060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中道森活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44068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全 TA 安全牌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44805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「玉田之後，中道再續」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主視覺與命名搭配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業主已選方向（黃底花卉典雅插畫） — 兩個版本的對應建議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中  道  森  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（鬱金香 + 水仙｜白色標題）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版本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色調明亮、年輕感較強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適合：TA2 在地二代、TA1 年輕返鄉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建議命名：中道森活｜栖、植光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3949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4A3210"/>
                </a:solidFill>
                <a:latin typeface="Microsoft JhengHei"/>
                <a:ea typeface="Microsoft JhengHei"/>
              </a:rPr>
              <a:t>中  道  森  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（玫瑰｜深棕標題）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版本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色調沉穩、典雅感較強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適合：TA3 退休置產、高品味 TA1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建議命名：中道森活｜栖、序、誠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建議：先選命名 → 再依命名調主視覺色調強弱（版本 B 配「栖」協同最佳）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商標 / 域名 / 法規檢查清單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命名定案前的 5 項驗證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檢查項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工具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現況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風險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商標檢索（智財局）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tipo.gov.tw 商標檢索系統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待查「中道森活」、「中道森活｜栖」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可能與既有商標衝突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案名查重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market.591.com.tw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已查無同名宜蘭案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✅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Google 搜尋衝突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Google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需確認無同名公司／品牌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依命名而定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域名可用性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Google Domains、Gandi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建議買 zhong-dao-sen-huo.com / .tw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易被搶註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Facebook / IG 帳號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Meta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建議同步註冊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易被搶註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璞域可代執行第 1、4、5 項；建議命名定案後 5 個工作天內完成。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下一步推進計畫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命名定案 → CI → 主視覺 → 上市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194560" cy="329184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1945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Step 1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本簡報業主回饋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192024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確認 1 案名（A / B / C 路線）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828800"/>
            <a:ext cx="2194560" cy="329184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965960"/>
            <a:ext cx="21945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Step 2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W1~W2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7432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商標／域名驗證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383280"/>
            <a:ext cx="192024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璞域代執行 5 項檢查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1828800"/>
            <a:ext cx="2194560" cy="329184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965960"/>
            <a:ext cx="21945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Step 3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W2~W3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7432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案名最終定稿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83280"/>
            <a:ext cx="192024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若有衝突回到備案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97496" y="1828800"/>
            <a:ext cx="2194560" cy="329184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1965960"/>
            <a:ext cx="21945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Step 4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W3~W6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27432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CI / Logo 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3383280"/>
            <a:ext cx="192024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案名 + 副標 + 字體系統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0928" y="1828800"/>
            <a:ext cx="2194560" cy="329184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1965960"/>
            <a:ext cx="21945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Step 5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W4~W8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7432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主視覺迭代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3383280"/>
            <a:ext cx="192024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Banner / DM / 看屋會館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目標：8 週內完成命名定稿與主視覺 1.0，銜接 Q4 2026 上市時程。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璞域品牌策略｜crazywofes@gmail.com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