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AC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0" cy="6858000"/>
          </a:xfrm>
          <a:prstGeom prst="rect">
            <a:avLst/>
          </a:prstGeom>
          <a:solidFill>
            <a:srgbClr val="4A3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054535" y="0"/>
            <a:ext cx="137160" cy="6858000"/>
          </a:xfrm>
          <a:prstGeom prst="rect">
            <a:avLst/>
          </a:prstGeom>
          <a:solidFill>
            <a:srgbClr val="4A3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103120"/>
            <a:ext cx="9144000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>
                <a:solidFill>
                  <a:srgbClr val="4A3210"/>
                </a:solidFill>
                <a:latin typeface="Microsoft JhengHei"/>
                <a:ea typeface="Microsoft JhengHei"/>
              </a:rPr>
              <a:t>鼎弘建設 × 璞域品牌策略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651760"/>
            <a:ext cx="9144000" cy="12801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6400" b="1">
                <a:solidFill>
                  <a:srgbClr val="4A3210"/>
                </a:solidFill>
                <a:latin typeface="Microsoft JhengHei"/>
                <a:ea typeface="Microsoft JhengHei"/>
              </a:rPr>
              <a:t>中 道 森 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023360"/>
            <a:ext cx="9144000" cy="5486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0">
                <a:solidFill>
                  <a:srgbClr val="4A3210"/>
                </a:solidFill>
                <a:latin typeface="Microsoft JhengHei"/>
                <a:ea typeface="Microsoft JhengHei"/>
              </a:rPr>
              <a:t>建案命名策略提案</a:t>
            </a:r>
          </a:p>
        </p:txBody>
      </p:sp>
      <p:sp>
        <p:nvSpPr>
          <p:cNvPr id="7" name="Rectangle 6"/>
          <p:cNvSpPr/>
          <p:nvPr/>
        </p:nvSpPr>
        <p:spPr>
          <a:xfrm>
            <a:off x="5641848" y="4754880"/>
            <a:ext cx="914400" cy="19050"/>
          </a:xfrm>
          <a:prstGeom prst="rect">
            <a:avLst/>
          </a:prstGeom>
          <a:solidFill>
            <a:srgbClr val="4A3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126480"/>
            <a:ext cx="54864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1200" b="0">
                <a:solidFill>
                  <a:srgbClr val="4A3210"/>
                </a:solidFill>
                <a:latin typeface="Microsoft JhengHei"/>
                <a:ea typeface="Microsoft JhengHei"/>
              </a:rPr>
              <a:t>壯圍鄉五權段｜27 戶｜透天 3 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6126480"/>
            <a:ext cx="50292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>
                <a:solidFill>
                  <a:srgbClr val="4A3210"/>
                </a:solidFill>
                <a:latin typeface="Microsoft JhengHei"/>
                <a:ea typeface="Microsoft JhengHei"/>
              </a:rPr>
              <a:t>2026.06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8A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4A3210"/>
                </a:solidFill>
                <a:latin typeface="Microsoft JhengHei"/>
                <a:ea typeface="Microsoft JhengHei"/>
              </a:rPr>
              <a:t>簡報目錄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09728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  <a:ea typeface="Microsoft JhengHei"/>
              </a:rPr>
              <a:t>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731520" cy="31750"/>
          </a:xfrm>
          <a:prstGeom prst="rect">
            <a:avLst/>
          </a:prstGeom>
          <a:solidFill>
            <a:srgbClr val="8B3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sz="200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2000">
                <a:solidFill>
                  <a:srgbClr val="4A3210"/>
                </a:solidFill>
                <a:latin typeface="Microsoft JhengHei"/>
                <a:ea typeface="Microsoft JhengHei"/>
              </a:rPr>
              <a:t>01　命名前提：業主方向與客群定位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2000">
                <a:solidFill>
                  <a:srgbClr val="4A3210"/>
                </a:solidFill>
                <a:latin typeface="Microsoft JhengHei"/>
                <a:ea typeface="Microsoft JhengHei"/>
              </a:rPr>
              <a:t>02　「中道」二字的雙重內涵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2000">
                <a:solidFill>
                  <a:srgbClr val="4A3210"/>
                </a:solidFill>
                <a:latin typeface="Microsoft JhengHei"/>
                <a:ea typeface="Microsoft JhengHei"/>
              </a:rPr>
              <a:t>03　「森活」二字的品牌資產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2000">
                <a:solidFill>
                  <a:srgbClr val="4A3210"/>
                </a:solidFill>
                <a:latin typeface="Microsoft JhengHei"/>
                <a:ea typeface="Microsoft JhengHei"/>
              </a:rPr>
              <a:t>04　三條命名策略路線總覽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2000">
                <a:solidFill>
                  <a:srgbClr val="4A3210"/>
                </a:solidFill>
                <a:latin typeface="Microsoft JhengHei"/>
                <a:ea typeface="Microsoft JhengHei"/>
              </a:rPr>
              <a:t>05　路線 A — 純延續「中道森活」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2000">
                <a:solidFill>
                  <a:srgbClr val="4A3210"/>
                </a:solidFill>
                <a:latin typeface="Microsoft JhengHei"/>
                <a:ea typeface="Microsoft JhengHei"/>
              </a:rPr>
              <a:t>06　路線 B — 副標延伸「中道森活｜◯」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2000">
                <a:solidFill>
                  <a:srgbClr val="4A3210"/>
                </a:solidFill>
                <a:latin typeface="Microsoft JhengHei"/>
                <a:ea typeface="Microsoft JhengHei"/>
              </a:rPr>
              <a:t>07　路線 C — 系列編號「中道森活 NO.x」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2000">
                <a:solidFill>
                  <a:srgbClr val="4A3210"/>
                </a:solidFill>
                <a:latin typeface="Microsoft JhengHei"/>
                <a:ea typeface="Microsoft JhengHei"/>
              </a:rPr>
              <a:t>08　推薦 TOP 3 與 message 對應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2000">
                <a:solidFill>
                  <a:srgbClr val="4A3210"/>
                </a:solidFill>
                <a:latin typeface="Microsoft JhengHei"/>
                <a:ea typeface="Microsoft JhengHei"/>
              </a:rPr>
              <a:t>09　主視覺與命名的搭配建議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2000">
                <a:solidFill>
                  <a:srgbClr val="4A3210"/>
                </a:solidFill>
                <a:latin typeface="Microsoft JhengHei"/>
                <a:ea typeface="Microsoft JhengHei"/>
              </a:rPr>
              <a:t>10　商標／域名／法規檢查清單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2000">
                <a:solidFill>
                  <a:srgbClr val="4A3210"/>
                </a:solidFill>
                <a:latin typeface="Microsoft JhengHei"/>
                <a:ea typeface="Microsoft JhengHei"/>
              </a:rPr>
              <a:t>11　下一步推進計畫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8A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4A3210"/>
                </a:solidFill>
                <a:latin typeface="Microsoft JhengHei"/>
                <a:ea typeface="Microsoft JhengHei"/>
              </a:rPr>
              <a:t>01　命名前提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09728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  <a:ea typeface="Microsoft JhengHei"/>
              </a:rPr>
              <a:t>從業主方向 + 客群定位反推命名標準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731520" cy="31750"/>
          </a:xfrm>
          <a:prstGeom prst="rect">
            <a:avLst/>
          </a:prstGeom>
          <a:solidFill>
            <a:srgbClr val="8B3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554480"/>
            <a:ext cx="5394960" cy="4572000"/>
          </a:xfrm>
          <a:prstGeom prst="rect">
            <a:avLst/>
          </a:prstGeom>
          <a:solidFill>
            <a:srgbClr val="F5CB4F"/>
          </a:solidFill>
          <a:ln w="9525">
            <a:solidFill>
              <a:srgbClr val="4A32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691640"/>
            <a:ext cx="5394960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4A3210"/>
                </a:solidFill>
                <a:latin typeface="Microsoft JhengHei"/>
                <a:ea typeface="Microsoft JhengHei"/>
              </a:rPr>
              <a:t>業主初步方向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24028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</a:pPr>
            <a:r>
              <a:rPr sz="130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300">
                <a:solidFill>
                  <a:srgbClr val="4A3210"/>
                </a:solidFill>
                <a:latin typeface="Microsoft JhengHei"/>
                <a:ea typeface="Microsoft JhengHei"/>
              </a:rPr>
              <a:t>案名：「中道森活」</a:t>
            </a:r>
          </a:p>
          <a:p>
            <a:pPr>
              <a:lnSpc>
                <a:spcPct val="140000"/>
              </a:lnSpc>
            </a:pPr>
            <a:r>
              <a:rPr sz="130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300">
                <a:solidFill>
                  <a:srgbClr val="4A3210"/>
                </a:solidFill>
                <a:latin typeface="Microsoft JhengHei"/>
                <a:ea typeface="Microsoft JhengHei"/>
              </a:rPr>
              <a:t>延續「玉田森活」品牌系列</a:t>
            </a:r>
          </a:p>
          <a:p>
            <a:pPr>
              <a:lnSpc>
                <a:spcPct val="140000"/>
              </a:lnSpc>
            </a:pPr>
            <a:r>
              <a:rPr sz="130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300">
                <a:solidFill>
                  <a:srgbClr val="4A3210"/>
                </a:solidFill>
                <a:latin typeface="Microsoft JhengHei"/>
                <a:ea typeface="Microsoft JhengHei"/>
              </a:rPr>
              <a:t>命名邏輯：地名 + 森活</a:t>
            </a:r>
          </a:p>
          <a:p>
            <a:pPr>
              <a:lnSpc>
                <a:spcPct val="140000"/>
              </a:lnSpc>
            </a:pPr>
            <a:r>
              <a:rPr sz="130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300">
                <a:solidFill>
                  <a:srgbClr val="4A3210"/>
                </a:solidFill>
                <a:latin typeface="Microsoft JhengHei"/>
                <a:ea typeface="Microsoft JhengHei"/>
              </a:rPr>
              <a:t>主視覺：黃底花卉典雅插畫</a:t>
            </a:r>
          </a:p>
          <a:p>
            <a:pPr>
              <a:lnSpc>
                <a:spcPct val="140000"/>
              </a:lnSpc>
            </a:pPr>
            <a:r>
              <a:rPr sz="130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300">
                <a:solidFill>
                  <a:srgbClr val="4A3210"/>
                </a:solidFill>
                <a:latin typeface="Microsoft JhengHei"/>
                <a:ea typeface="Microsoft JhengHei"/>
              </a:rPr>
              <a:t>主文案：「在繁華之中收藏寧靜，在日常之間遇見家的溫度」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554480"/>
            <a:ext cx="5394960" cy="4572000"/>
          </a:xfrm>
          <a:prstGeom prst="rect">
            <a:avLst/>
          </a:prstGeom>
          <a:solidFill>
            <a:srgbClr val="FFF8E7"/>
          </a:solidFill>
          <a:ln w="9525">
            <a:solidFill>
              <a:srgbClr val="4A32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691640"/>
            <a:ext cx="5394960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8B3A0F"/>
                </a:solidFill>
                <a:latin typeface="Microsoft JhengHei"/>
                <a:ea typeface="Microsoft JhengHei"/>
              </a:rPr>
              <a:t>客群定位（取自簡報 1）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24028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</a:pPr>
            <a:r>
              <a:rPr sz="130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300">
                <a:solidFill>
                  <a:srgbClr val="4A3210"/>
                </a:solidFill>
                <a:latin typeface="Microsoft JhengHei"/>
                <a:ea typeface="Microsoft JhengHei"/>
              </a:rPr>
              <a:t>TA1 返鄉換屋族（45%）— 30~45 歲，要 4 房</a:t>
            </a:r>
          </a:p>
          <a:p>
            <a:pPr>
              <a:lnSpc>
                <a:spcPct val="140000"/>
              </a:lnSpc>
            </a:pPr>
            <a:r>
              <a:rPr sz="130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300">
                <a:solidFill>
                  <a:srgbClr val="4A3210"/>
                </a:solidFill>
                <a:latin typeface="Microsoft JhengHei"/>
                <a:ea typeface="Microsoft JhengHei"/>
              </a:rPr>
              <a:t>TA2 在地二代成家（35%）— 35~50 歲，要新成屋</a:t>
            </a:r>
          </a:p>
          <a:p>
            <a:pPr>
              <a:lnSpc>
                <a:spcPct val="140000"/>
              </a:lnSpc>
            </a:pPr>
            <a:r>
              <a:rPr sz="130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300">
                <a:solidFill>
                  <a:srgbClr val="4A3210"/>
                </a:solidFill>
                <a:latin typeface="Microsoft JhengHei"/>
                <a:ea typeface="Microsoft JhengHei"/>
              </a:rPr>
              <a:t>TA3 雙北退休置產（20%）— 50+，要寧靜面寬</a:t>
            </a:r>
          </a:p>
          <a:p>
            <a:pPr>
              <a:lnSpc>
                <a:spcPct val="140000"/>
              </a:lnSpc>
            </a:pPr>
            <a:r>
              <a:rPr sz="130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300">
                <a:solidFill>
                  <a:srgbClr val="4A3210"/>
                </a:solidFill>
                <a:latin typeface="Microsoft JhengHei"/>
                <a:ea typeface="Microsoft JhengHei"/>
              </a:rPr>
              <a:t>三組 TA 都偏「沉靜、品味、家的溫度」</a:t>
            </a:r>
          </a:p>
          <a:p>
            <a:pPr>
              <a:lnSpc>
                <a:spcPct val="140000"/>
              </a:lnSpc>
            </a:pPr>
            <a:r>
              <a:rPr sz="130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300">
                <a:solidFill>
                  <a:srgbClr val="4A3210"/>
                </a:solidFill>
                <a:latin typeface="Microsoft JhengHei"/>
                <a:ea typeface="Microsoft JhengHei"/>
              </a:rPr>
              <a:t>命名須符合 → 安靜、優雅、不浮誇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900" b="0">
                <a:solidFill>
                  <a:srgbClr val="A0A0A0"/>
                </a:solidFill>
                <a:latin typeface="Microsoft JhengHei"/>
                <a:ea typeface="Microsoft JhengHei"/>
              </a:rPr>
              <a:t>命名標準三條：①延續品牌、②呼應主視覺、③契合客群調性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A0A0A0"/>
                </a:solidFill>
                <a:latin typeface="Microsoft JhengHei"/>
                <a:ea typeface="Microsoft JhengHei"/>
              </a:rPr>
              <a:t>2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8A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4A3210"/>
                </a:solidFill>
                <a:latin typeface="Microsoft JhengHei"/>
                <a:ea typeface="Microsoft JhengHei"/>
              </a:rPr>
              <a:t>02　「中道」二字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09728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  <a:ea typeface="Microsoft JhengHei"/>
              </a:rPr>
              <a:t>地理與哲學的雙重意涵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731520" cy="31750"/>
          </a:xfrm>
          <a:prstGeom prst="rect">
            <a:avLst/>
          </a:prstGeom>
          <a:solidFill>
            <a:srgbClr val="8B3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645920"/>
            <a:ext cx="3657600" cy="4389120"/>
          </a:xfrm>
          <a:prstGeom prst="rect">
            <a:avLst/>
          </a:prstGeom>
          <a:solidFill>
            <a:srgbClr val="FFF8E7"/>
          </a:solidFill>
          <a:ln w="9525">
            <a:solidFill>
              <a:srgbClr val="4A32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783080"/>
            <a:ext cx="3657600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4A3210"/>
                </a:solidFill>
                <a:latin typeface="Microsoft JhengHei"/>
                <a:ea typeface="Microsoft JhengHei"/>
              </a:rPr>
              <a:t>地理層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423160"/>
            <a:ext cx="32004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5000"/>
              </a:lnSpc>
            </a:pPr>
            <a:r>
              <a:rPr sz="1250" b="1">
                <a:solidFill>
                  <a:srgbClr val="4A3210"/>
                </a:solidFill>
                <a:latin typeface="Microsoft JhengHei"/>
                <a:ea typeface="Microsoft JhengHei"/>
              </a:rPr>
              <a:t>• </a:t>
            </a:r>
            <a:r>
              <a:rPr sz="1250">
                <a:solidFill>
                  <a:srgbClr val="4A3210"/>
                </a:solidFill>
                <a:latin typeface="Microsoft JhengHei"/>
                <a:ea typeface="Microsoft JhengHei"/>
              </a:rPr>
              <a:t>壯圍鄉「中道」為當地地段／聚落名</a:t>
            </a:r>
          </a:p>
          <a:p>
            <a:pPr>
              <a:lnSpc>
                <a:spcPct val="145000"/>
              </a:lnSpc>
            </a:pPr>
            <a:r>
              <a:rPr sz="1250" b="1">
                <a:solidFill>
                  <a:srgbClr val="4A3210"/>
                </a:solidFill>
                <a:latin typeface="Microsoft JhengHei"/>
                <a:ea typeface="Microsoft JhengHei"/>
              </a:rPr>
              <a:t>• </a:t>
            </a:r>
            <a:r>
              <a:rPr sz="1250">
                <a:solidFill>
                  <a:srgbClr val="4A3210"/>
                </a:solidFill>
                <a:latin typeface="Microsoft JhengHei"/>
                <a:ea typeface="Microsoft JhengHei"/>
              </a:rPr>
              <a:t>鄰近順和路、南北五路，</a:t>
            </a:r>
          </a:p>
          <a:p>
            <a:pPr>
              <a:lnSpc>
                <a:spcPct val="145000"/>
              </a:lnSpc>
            </a:pPr>
            <a:r>
              <a:rPr sz="1250" b="1">
                <a:solidFill>
                  <a:srgbClr val="4A3210"/>
                </a:solidFill>
                <a:latin typeface="Microsoft JhengHei"/>
                <a:ea typeface="Microsoft JhengHei"/>
              </a:rPr>
              <a:t>• </a:t>
            </a:r>
            <a:r>
              <a:rPr sz="1250">
                <a:solidFill>
                  <a:srgbClr val="4A3210"/>
                </a:solidFill>
                <a:latin typeface="Microsoft JhengHei"/>
                <a:ea typeface="Microsoft JhengHei"/>
              </a:rPr>
              <a:t>壯圍鄉內歷史聚落之一</a:t>
            </a:r>
          </a:p>
          <a:p>
            <a:pPr>
              <a:lnSpc>
                <a:spcPct val="145000"/>
              </a:lnSpc>
            </a:pPr>
            <a:r>
              <a:rPr sz="1250" b="1">
                <a:solidFill>
                  <a:srgbClr val="4A3210"/>
                </a:solidFill>
                <a:latin typeface="Microsoft JhengHei"/>
                <a:ea typeface="Microsoft JhengHei"/>
              </a:rPr>
              <a:t>• </a:t>
            </a:r>
            <a:r>
              <a:rPr sz="1250">
                <a:solidFill>
                  <a:srgbClr val="4A3210"/>
                </a:solidFill>
                <a:latin typeface="Microsoft JhengHei"/>
                <a:ea typeface="Microsoft JhengHei"/>
              </a:rPr>
              <a:t>對在地客（TA2）而言：辨識度極高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645920"/>
            <a:ext cx="3657600" cy="4389120"/>
          </a:xfrm>
          <a:prstGeom prst="rect">
            <a:avLst/>
          </a:prstGeom>
          <a:solidFill>
            <a:srgbClr val="FFF8E7"/>
          </a:solidFill>
          <a:ln w="9525">
            <a:solidFill>
              <a:srgbClr val="8B3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0" y="1783080"/>
            <a:ext cx="3657600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8B3A0F"/>
                </a:solidFill>
                <a:latin typeface="Microsoft JhengHei"/>
                <a:ea typeface="Microsoft JhengHei"/>
              </a:rPr>
              <a:t>哲學層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80" y="2423160"/>
            <a:ext cx="32004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5000"/>
              </a:lnSpc>
            </a:pPr>
            <a:r>
              <a:rPr sz="125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250">
                <a:solidFill>
                  <a:srgbClr val="4A3210"/>
                </a:solidFill>
                <a:latin typeface="Microsoft JhengHei"/>
                <a:ea typeface="Microsoft JhengHei"/>
              </a:rPr>
              <a:t>「中庸之道」— 不偏不倚、平衡</a:t>
            </a:r>
          </a:p>
          <a:p>
            <a:pPr>
              <a:lnSpc>
                <a:spcPct val="145000"/>
              </a:lnSpc>
            </a:pPr>
            <a:r>
              <a:rPr sz="125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250">
                <a:solidFill>
                  <a:srgbClr val="4A3210"/>
                </a:solidFill>
                <a:latin typeface="Microsoft JhengHei"/>
                <a:ea typeface="Microsoft JhengHei"/>
              </a:rPr>
              <a:t>對應客群心境：在工作與家、</a:t>
            </a:r>
          </a:p>
          <a:p>
            <a:pPr>
              <a:lnSpc>
                <a:spcPct val="145000"/>
              </a:lnSpc>
            </a:pPr>
            <a:r>
              <a:rPr sz="125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250">
                <a:solidFill>
                  <a:srgbClr val="4A3210"/>
                </a:solidFill>
                <a:latin typeface="Microsoft JhengHei"/>
                <a:ea typeface="Microsoft JhengHei"/>
              </a:rPr>
              <a:t>繁華與寧靜、北漂與返鄉之間</a:t>
            </a:r>
          </a:p>
          <a:p>
            <a:pPr>
              <a:lnSpc>
                <a:spcPct val="145000"/>
              </a:lnSpc>
            </a:pPr>
            <a:r>
              <a:rPr sz="125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250">
                <a:solidFill>
                  <a:srgbClr val="4A3210"/>
                </a:solidFill>
                <a:latin typeface="Microsoft JhengHei"/>
                <a:ea typeface="Microsoft JhengHei"/>
              </a:rPr>
              <a:t>對返鄉客（TA1）與退休客（TA3）：</a:t>
            </a:r>
          </a:p>
          <a:p>
            <a:pPr>
              <a:lnSpc>
                <a:spcPct val="145000"/>
              </a:lnSpc>
            </a:pPr>
            <a:r>
              <a:rPr sz="125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250">
                <a:solidFill>
                  <a:srgbClr val="4A3210"/>
                </a:solidFill>
                <a:latin typeface="Microsoft JhengHei"/>
                <a:ea typeface="Microsoft JhengHei"/>
              </a:rPr>
              <a:t>情感共鳴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1645920"/>
            <a:ext cx="3657600" cy="4389120"/>
          </a:xfrm>
          <a:prstGeom prst="rect">
            <a:avLst/>
          </a:prstGeom>
          <a:solidFill>
            <a:srgbClr val="FFF8E7"/>
          </a:solidFill>
          <a:ln w="9525">
            <a:solidFill>
              <a:srgbClr val="4A32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0" y="1783080"/>
            <a:ext cx="3657600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4A3210"/>
                </a:solidFill>
                <a:latin typeface="Microsoft JhengHei"/>
                <a:ea typeface="Microsoft JhengHei"/>
              </a:rPr>
              <a:t>品牌層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423160"/>
            <a:ext cx="32004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5000"/>
              </a:lnSpc>
            </a:pPr>
            <a:r>
              <a:rPr sz="1250" b="1">
                <a:solidFill>
                  <a:srgbClr val="4A3210"/>
                </a:solidFill>
                <a:latin typeface="Microsoft JhengHei"/>
                <a:ea typeface="Microsoft JhengHei"/>
              </a:rPr>
              <a:t>• </a:t>
            </a:r>
            <a:r>
              <a:rPr sz="1250">
                <a:solidFill>
                  <a:srgbClr val="4A3210"/>
                </a:solidFill>
                <a:latin typeface="Microsoft JhengHei"/>
                <a:ea typeface="Microsoft JhengHei"/>
              </a:rPr>
              <a:t>兩字結構穩定、字形對稱</a:t>
            </a:r>
          </a:p>
          <a:p>
            <a:pPr>
              <a:lnSpc>
                <a:spcPct val="145000"/>
              </a:lnSpc>
            </a:pPr>
            <a:r>
              <a:rPr sz="1250" b="1">
                <a:solidFill>
                  <a:srgbClr val="4A3210"/>
                </a:solidFill>
                <a:latin typeface="Microsoft JhengHei"/>
                <a:ea typeface="Microsoft JhengHei"/>
              </a:rPr>
              <a:t>• </a:t>
            </a:r>
            <a:r>
              <a:rPr sz="1250">
                <a:solidFill>
                  <a:srgbClr val="4A3210"/>
                </a:solidFill>
                <a:latin typeface="Microsoft JhengHei"/>
                <a:ea typeface="Microsoft JhengHei"/>
              </a:rPr>
              <a:t>視覺上呼應主視覺花卉的均衡感</a:t>
            </a:r>
          </a:p>
          <a:p>
            <a:pPr>
              <a:lnSpc>
                <a:spcPct val="145000"/>
              </a:lnSpc>
            </a:pPr>
            <a:r>
              <a:rPr sz="1250" b="1">
                <a:solidFill>
                  <a:srgbClr val="4A3210"/>
                </a:solidFill>
                <a:latin typeface="Microsoft JhengHei"/>
                <a:ea typeface="Microsoft JhengHei"/>
              </a:rPr>
              <a:t>• </a:t>
            </a:r>
            <a:r>
              <a:rPr sz="1250">
                <a:solidFill>
                  <a:srgbClr val="4A3210"/>
                </a:solidFill>
                <a:latin typeface="Microsoft JhengHei"/>
                <a:ea typeface="Microsoft JhengHei"/>
              </a:rPr>
              <a:t>與「玉田」（地名）系列延續性強</a:t>
            </a:r>
          </a:p>
          <a:p>
            <a:pPr>
              <a:lnSpc>
                <a:spcPct val="145000"/>
              </a:lnSpc>
            </a:pPr>
            <a:r>
              <a:rPr sz="1250" b="1">
                <a:solidFill>
                  <a:srgbClr val="4A3210"/>
                </a:solidFill>
                <a:latin typeface="Microsoft JhengHei"/>
                <a:ea typeface="Microsoft JhengHei"/>
              </a:rPr>
              <a:t>• </a:t>
            </a:r>
            <a:r>
              <a:rPr sz="1250">
                <a:solidFill>
                  <a:srgbClr val="4A3210"/>
                </a:solidFill>
                <a:latin typeface="Microsoft JhengHei"/>
                <a:ea typeface="Microsoft JhengHei"/>
              </a:rPr>
              <a:t>與其他建案不易混淆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900" b="0">
                <a:solidFill>
                  <a:srgbClr val="A0A0A0"/>
                </a:solidFill>
                <a:latin typeface="Microsoft JhengHei"/>
                <a:ea typeface="Microsoft JhengHei"/>
              </a:rPr>
              <a:t>中道之於本案：地理錨點 + 心境共鳴 + 品牌延續，三重資產。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A0A0A0"/>
                </a:solidFill>
                <a:latin typeface="Microsoft JhengHei"/>
                <a:ea typeface="Microsoft JhengHei"/>
              </a:rPr>
              <a:t>3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8A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4A3210"/>
                </a:solidFill>
                <a:latin typeface="Microsoft JhengHei"/>
                <a:ea typeface="Microsoft JhengHei"/>
              </a:rPr>
              <a:t>03　「森活」二字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09728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  <a:ea typeface="Microsoft JhengHei"/>
              </a:rPr>
              <a:t>鼎弘已建立的品牌資產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731520" cy="31750"/>
          </a:xfrm>
          <a:prstGeom prst="rect">
            <a:avLst/>
          </a:prstGeom>
          <a:solidFill>
            <a:srgbClr val="8B3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943600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2000" b="1">
                <a:solidFill>
                  <a:srgbClr val="4A3210"/>
                </a:solidFill>
                <a:latin typeface="Microsoft JhengHei"/>
                <a:ea typeface="Microsoft JhengHei"/>
              </a:rPr>
              <a:t>「森活」= 森林 × 生活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03120"/>
            <a:ext cx="5760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sz="135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350">
                <a:solidFill>
                  <a:srgbClr val="4A3210"/>
                </a:solidFill>
                <a:latin typeface="Microsoft JhengHei"/>
                <a:ea typeface="Microsoft JhengHei"/>
              </a:rPr>
              <a:t>「森」字：取「叢生、繁茂」 — 對應宜蘭的綠意</a:t>
            </a:r>
          </a:p>
          <a:p>
            <a:pPr>
              <a:lnSpc>
                <a:spcPct val="150000"/>
              </a:lnSpc>
            </a:pPr>
            <a:r>
              <a:rPr sz="135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350">
                <a:solidFill>
                  <a:srgbClr val="4A3210"/>
                </a:solidFill>
                <a:latin typeface="Microsoft JhengHei"/>
                <a:ea typeface="Microsoft JhengHei"/>
              </a:rPr>
              <a:t>「活」字：取「生活的態度」 — 對應 TA 的價值觀</a:t>
            </a:r>
          </a:p>
          <a:p>
            <a:pPr>
              <a:lnSpc>
                <a:spcPct val="150000"/>
              </a:lnSpc>
            </a:pPr>
            <a:r>
              <a:rPr sz="135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350">
                <a:solidFill>
                  <a:srgbClr val="4A3210"/>
                </a:solidFill>
                <a:latin typeface="Microsoft JhengHei"/>
                <a:ea typeface="Microsoft JhengHei"/>
              </a:rPr>
              <a:t>音韻上「森活」≈「生活」雙關，記憶點高</a:t>
            </a:r>
          </a:p>
          <a:p>
            <a:pPr>
              <a:lnSpc>
                <a:spcPct val="150000"/>
              </a:lnSpc>
            </a:pPr>
            <a:r>
              <a:rPr sz="135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350">
                <a:solidFill>
                  <a:srgbClr val="4A3210"/>
                </a:solidFill>
                <a:latin typeface="Microsoft JhengHei"/>
                <a:ea typeface="Microsoft JhengHei"/>
              </a:rPr>
              <a:t>玉田森活 1 + 2 期合計 44 戶完銷 — 已有品牌 awareness</a:t>
            </a:r>
          </a:p>
          <a:p>
            <a:pPr>
              <a:lnSpc>
                <a:spcPct val="150000"/>
              </a:lnSpc>
            </a:pPr>
            <a:r>
              <a:rPr sz="135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350">
                <a:solidFill>
                  <a:srgbClr val="4A3210"/>
                </a:solidFill>
                <a:latin typeface="Microsoft JhengHei"/>
                <a:ea typeface="Microsoft JhengHei"/>
              </a:rPr>
              <a:t>新案沿用「森活」= 直接繼承玉田客群口碑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0" y="1554480"/>
            <a:ext cx="4846320" cy="4572000"/>
          </a:xfrm>
          <a:prstGeom prst="rect">
            <a:avLst/>
          </a:prstGeom>
          <a:solidFill>
            <a:srgbClr val="F5CB4F"/>
          </a:solidFill>
          <a:ln w="9525">
            <a:solidFill>
              <a:srgbClr val="4A32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0" y="1691640"/>
            <a:ext cx="4846320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1">
                <a:solidFill>
                  <a:srgbClr val="4A3210"/>
                </a:solidFill>
                <a:latin typeface="Microsoft JhengHei"/>
                <a:ea typeface="Microsoft JhengHei"/>
              </a:rPr>
              <a:t>鼎弘「森活」系列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0" y="2377440"/>
            <a:ext cx="42976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4A32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69480" y="2487168"/>
            <a:ext cx="4114800" cy="4114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1600" b="1">
                <a:solidFill>
                  <a:srgbClr val="4A3210"/>
                </a:solidFill>
                <a:latin typeface="Microsoft JhengHei"/>
                <a:ea typeface="Microsoft JhengHei"/>
              </a:rPr>
              <a:t>玉田森活 1 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69480" y="2880360"/>
            <a:ext cx="41148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1200" b="0">
                <a:solidFill>
                  <a:srgbClr val="4A3210"/>
                </a:solidFill>
                <a:latin typeface="Microsoft JhengHei"/>
                <a:ea typeface="Microsoft JhengHei"/>
              </a:rPr>
              <a:t>礁溪 30 戶 / 已完銷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32320" y="3520440"/>
            <a:ext cx="42976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4A32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69480" y="3630168"/>
            <a:ext cx="4114800" cy="4114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1600" b="1">
                <a:solidFill>
                  <a:srgbClr val="4A3210"/>
                </a:solidFill>
                <a:latin typeface="Microsoft JhengHei"/>
                <a:ea typeface="Microsoft JhengHei"/>
              </a:rPr>
              <a:t>玉田森活 2 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69480" y="4023360"/>
            <a:ext cx="41148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1200" b="0">
                <a:solidFill>
                  <a:srgbClr val="4A3210"/>
                </a:solidFill>
                <a:latin typeface="Microsoft JhengHei"/>
                <a:ea typeface="Microsoft JhengHei"/>
              </a:rPr>
              <a:t>礁溪 14 戶 / 已完銷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32320" y="4663440"/>
            <a:ext cx="4297680" cy="914400"/>
          </a:xfrm>
          <a:prstGeom prst="rect">
            <a:avLst/>
          </a:prstGeom>
          <a:solidFill>
            <a:srgbClr val="8B3A0F"/>
          </a:solidFill>
          <a:ln w="9525">
            <a:solidFill>
              <a:srgbClr val="4A32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69480" y="4773168"/>
            <a:ext cx="4114800" cy="4114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Microsoft JhengHei"/>
                <a:ea typeface="Microsoft JhengHei"/>
              </a:rPr>
              <a:t>中道森活（本案）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480" y="5166360"/>
            <a:ext cx="41148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  <a:ea typeface="Microsoft JhengHei"/>
              </a:rPr>
              <a:t>壯圍 27 戶 / 推案中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900" b="0">
                <a:solidFill>
                  <a:srgbClr val="A0A0A0"/>
                </a:solidFill>
                <a:latin typeface="Microsoft JhengHei"/>
                <a:ea typeface="Microsoft JhengHei"/>
              </a:rPr>
              <a:t>「森活」= 鼎弘建設不可放棄的品牌資產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A0A0A0"/>
                </a:solidFill>
                <a:latin typeface="Microsoft JhengHei"/>
                <a:ea typeface="Microsoft JhengHei"/>
              </a:rPr>
              <a:t>4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8A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4A3210"/>
                </a:solidFill>
                <a:latin typeface="Microsoft JhengHei"/>
                <a:ea typeface="Microsoft JhengHei"/>
              </a:rPr>
              <a:t>04　三條命名策略路線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09728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  <a:ea typeface="Microsoft JhengHei"/>
              </a:rPr>
              <a:t>依「品牌延續性」與「辨識度」雙軸定位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731520" cy="31750"/>
          </a:xfrm>
          <a:prstGeom prst="rect">
            <a:avLst/>
          </a:prstGeom>
          <a:solidFill>
            <a:srgbClr val="8B3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554480"/>
            <a:ext cx="3657600" cy="4754880"/>
          </a:xfrm>
          <a:prstGeom prst="rect">
            <a:avLst/>
          </a:prstGeom>
          <a:solidFill>
            <a:srgbClr val="F5CB4F"/>
          </a:solidFill>
          <a:ln w="9525">
            <a:solidFill>
              <a:srgbClr val="4A32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691640"/>
            <a:ext cx="3657600" cy="8686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4A3210"/>
                </a:solidFill>
                <a:latin typeface="Microsoft JhengHei"/>
                <a:ea typeface="Microsoft JhengHei"/>
              </a:rPr>
              <a:t>路線 A</a:t>
            </a:r>
          </a:p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4A3210"/>
                </a:solidFill>
                <a:latin typeface="Microsoft JhengHei"/>
                <a:ea typeface="Microsoft JhengHei"/>
              </a:rPr>
              <a:t>純延續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97480"/>
            <a:ext cx="3657600" cy="6400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8B3A0F"/>
                </a:solidFill>
                <a:latin typeface="Microsoft JhengHei"/>
                <a:ea typeface="Microsoft JhengHei"/>
              </a:rPr>
              <a:t>「中道森活」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566160"/>
            <a:ext cx="32004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5000"/>
              </a:lnSpc>
            </a:pPr>
            <a:r>
              <a:rPr sz="125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250">
                <a:solidFill>
                  <a:srgbClr val="4A3210"/>
                </a:solidFill>
                <a:latin typeface="Microsoft JhengHei"/>
                <a:ea typeface="Microsoft JhengHei"/>
              </a:rPr>
              <a:t>極簡、直接、易讀</a:t>
            </a:r>
          </a:p>
          <a:p>
            <a:pPr>
              <a:lnSpc>
                <a:spcPct val="145000"/>
              </a:lnSpc>
            </a:pPr>
            <a:r>
              <a:rPr sz="125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250">
                <a:solidFill>
                  <a:srgbClr val="4A3210"/>
                </a:solidFill>
                <a:latin typeface="Microsoft JhengHei"/>
                <a:ea typeface="Microsoft JhengHei"/>
              </a:rPr>
              <a:t>完全沿用業主方向</a:t>
            </a:r>
          </a:p>
          <a:p>
            <a:pPr>
              <a:lnSpc>
                <a:spcPct val="145000"/>
              </a:lnSpc>
            </a:pPr>
            <a:r>
              <a:rPr sz="125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250">
                <a:solidFill>
                  <a:srgbClr val="4A3210"/>
                </a:solidFill>
                <a:latin typeface="Microsoft JhengHei"/>
                <a:ea typeface="Microsoft JhengHei"/>
              </a:rPr>
              <a:t>辨識度：中（會與玉田森活混淆）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1554480"/>
            <a:ext cx="3657600" cy="4754880"/>
          </a:xfrm>
          <a:prstGeom prst="rect">
            <a:avLst/>
          </a:prstGeom>
          <a:solidFill>
            <a:srgbClr val="FFF8E7"/>
          </a:solidFill>
          <a:ln w="9525">
            <a:solidFill>
              <a:srgbClr val="8B3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0" y="1691640"/>
            <a:ext cx="3657600" cy="8686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4A3210"/>
                </a:solidFill>
                <a:latin typeface="Microsoft JhengHei"/>
                <a:ea typeface="Microsoft JhengHei"/>
              </a:rPr>
              <a:t>路線 B</a:t>
            </a:r>
          </a:p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4A3210"/>
                </a:solidFill>
                <a:latin typeface="Microsoft JhengHei"/>
                <a:ea typeface="Microsoft JhengHei"/>
              </a:rPr>
              <a:t>副標延伸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697480"/>
            <a:ext cx="3657600" cy="6400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8B3A0F"/>
                </a:solidFill>
                <a:latin typeface="Microsoft JhengHei"/>
                <a:ea typeface="Microsoft JhengHei"/>
              </a:rPr>
              <a:t>「中道森活 | ◯」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3566160"/>
            <a:ext cx="32004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5000"/>
              </a:lnSpc>
            </a:pPr>
            <a:r>
              <a:rPr sz="125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250">
                <a:solidFill>
                  <a:srgbClr val="4A3210"/>
                </a:solidFill>
                <a:latin typeface="Microsoft JhengHei"/>
                <a:ea typeface="Microsoft JhengHei"/>
              </a:rPr>
              <a:t>保留品牌系列</a:t>
            </a:r>
          </a:p>
          <a:p>
            <a:pPr>
              <a:lnSpc>
                <a:spcPct val="145000"/>
              </a:lnSpc>
            </a:pPr>
            <a:r>
              <a:rPr sz="125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250">
                <a:solidFill>
                  <a:srgbClr val="4A3210"/>
                </a:solidFill>
                <a:latin typeface="Microsoft JhengHei"/>
                <a:ea typeface="Microsoft JhengHei"/>
              </a:rPr>
              <a:t>副標字加上獨特辨識</a:t>
            </a:r>
          </a:p>
          <a:p>
            <a:pPr>
              <a:lnSpc>
                <a:spcPct val="145000"/>
              </a:lnSpc>
            </a:pPr>
            <a:r>
              <a:rPr sz="125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250">
                <a:solidFill>
                  <a:srgbClr val="4A3210"/>
                </a:solidFill>
                <a:latin typeface="Microsoft JhengHei"/>
                <a:ea typeface="Microsoft JhengHei"/>
              </a:rPr>
              <a:t>辨識度：高｜推薦度：★★★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38160" y="1554480"/>
            <a:ext cx="3657600" cy="4754880"/>
          </a:xfrm>
          <a:prstGeom prst="rect">
            <a:avLst/>
          </a:prstGeom>
          <a:solidFill>
            <a:srgbClr val="FFF8E7"/>
          </a:solidFill>
          <a:ln w="9525">
            <a:solidFill>
              <a:srgbClr val="4A32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0" y="1691640"/>
            <a:ext cx="3657600" cy="8686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4A3210"/>
                </a:solidFill>
                <a:latin typeface="Microsoft JhengHei"/>
                <a:ea typeface="Microsoft JhengHei"/>
              </a:rPr>
              <a:t>路線 C</a:t>
            </a:r>
          </a:p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4A3210"/>
                </a:solidFill>
                <a:latin typeface="Microsoft JhengHei"/>
                <a:ea typeface="Microsoft JhengHei"/>
              </a:rPr>
              <a:t>系列編號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2697480"/>
            <a:ext cx="3657600" cy="6400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8B3A0F"/>
                </a:solidFill>
                <a:latin typeface="Microsoft JhengHei"/>
                <a:ea typeface="Microsoft JhengHei"/>
              </a:rPr>
              <a:t>「中道森活 NO.x」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566160"/>
            <a:ext cx="32004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5000"/>
              </a:lnSpc>
            </a:pPr>
            <a:r>
              <a:rPr sz="125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250">
                <a:solidFill>
                  <a:srgbClr val="4A3210"/>
                </a:solidFill>
                <a:latin typeface="Microsoft JhengHei"/>
                <a:ea typeface="Microsoft JhengHei"/>
              </a:rPr>
              <a:t>工業／極簡感</a:t>
            </a:r>
          </a:p>
          <a:p>
            <a:pPr>
              <a:lnSpc>
                <a:spcPct val="145000"/>
              </a:lnSpc>
            </a:pPr>
            <a:r>
              <a:rPr sz="125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250">
                <a:solidFill>
                  <a:srgbClr val="4A3210"/>
                </a:solidFill>
                <a:latin typeface="Microsoft JhengHei"/>
                <a:ea typeface="Microsoft JhengHei"/>
              </a:rPr>
              <a:t>與玉田 1/2 同邏輯</a:t>
            </a:r>
          </a:p>
          <a:p>
            <a:pPr>
              <a:lnSpc>
                <a:spcPct val="145000"/>
              </a:lnSpc>
            </a:pPr>
            <a:r>
              <a:rPr sz="125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250">
                <a:solidFill>
                  <a:srgbClr val="4A3210"/>
                </a:solidFill>
                <a:latin typeface="Microsoft JhengHei"/>
                <a:ea typeface="Microsoft JhengHei"/>
              </a:rPr>
              <a:t>辨識度：中｜年輕感較強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4A3210"/>
                </a:solidFill>
                <a:latin typeface="Microsoft JhengHei"/>
                <a:ea typeface="Microsoft JhengHei"/>
              </a:rPr>
              <a:t>下三頁逐一展開每條路線的子提案。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A0A0A0"/>
                </a:solidFill>
                <a:latin typeface="Microsoft JhengHei"/>
                <a:ea typeface="Microsoft JhengHei"/>
              </a:rPr>
              <a:t>5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8A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4A3210"/>
                </a:solidFill>
                <a:latin typeface="Microsoft JhengHei"/>
                <a:ea typeface="Microsoft JhengHei"/>
              </a:rPr>
              <a:t>05　路線 A — 純延續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09728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  <a:ea typeface="Microsoft JhengHei"/>
              </a:rPr>
              <a:t>「中道森活」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731520" cy="31750"/>
          </a:xfrm>
          <a:prstGeom prst="rect">
            <a:avLst/>
          </a:prstGeom>
          <a:solidFill>
            <a:srgbClr val="8B3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11247120" cy="9144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6600" b="1">
                <a:solidFill>
                  <a:srgbClr val="4A3210"/>
                </a:solidFill>
                <a:latin typeface="Microsoft JhengHei"/>
                <a:ea typeface="Microsoft JhengHei"/>
              </a:rPr>
              <a:t>中  道  森  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97480"/>
            <a:ext cx="11247120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>
                <a:solidFill>
                  <a:srgbClr val="555555"/>
                </a:solidFill>
                <a:latin typeface="Microsoft JhengHei"/>
                <a:ea typeface="Microsoft JhengHei"/>
              </a:rPr>
              <a:t>ZHONG DAO SEN HUO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474720"/>
            <a:ext cx="5394960" cy="2560320"/>
          </a:xfrm>
          <a:prstGeom prst="rect">
            <a:avLst/>
          </a:prstGeom>
          <a:solidFill>
            <a:srgbClr val="FFF8E7"/>
          </a:solidFill>
          <a:ln w="9525">
            <a:solidFill>
              <a:srgbClr val="4A32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3611880"/>
            <a:ext cx="539496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4A3210"/>
                </a:solidFill>
                <a:latin typeface="Microsoft JhengHei"/>
                <a:ea typeface="Microsoft JhengHei"/>
              </a:rPr>
              <a:t>優點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023360"/>
            <a:ext cx="4937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</a:pPr>
            <a:r>
              <a:rPr sz="130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300">
                <a:solidFill>
                  <a:srgbClr val="4A3210"/>
                </a:solidFill>
                <a:latin typeface="Microsoft JhengHei"/>
                <a:ea typeface="Microsoft JhengHei"/>
              </a:rPr>
              <a:t>完全延續業主品牌方向</a:t>
            </a:r>
          </a:p>
          <a:p>
            <a:pPr>
              <a:lnSpc>
                <a:spcPct val="135000"/>
              </a:lnSpc>
            </a:pPr>
            <a:r>
              <a:rPr sz="130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300">
                <a:solidFill>
                  <a:srgbClr val="4A3210"/>
                </a:solidFill>
                <a:latin typeface="Microsoft JhengHei"/>
                <a:ea typeface="Microsoft JhengHei"/>
              </a:rPr>
              <a:t>案名極簡，辨識成本低</a:t>
            </a:r>
          </a:p>
          <a:p>
            <a:pPr>
              <a:lnSpc>
                <a:spcPct val="135000"/>
              </a:lnSpc>
            </a:pPr>
            <a:r>
              <a:rPr sz="130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300">
                <a:solidFill>
                  <a:srgbClr val="4A3210"/>
                </a:solidFill>
                <a:latin typeface="Microsoft JhengHei"/>
                <a:ea typeface="Microsoft JhengHei"/>
              </a:rPr>
              <a:t>與玉田森活高度延續性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3474720"/>
            <a:ext cx="5394960" cy="2560320"/>
          </a:xfrm>
          <a:prstGeom prst="rect">
            <a:avLst/>
          </a:prstGeom>
          <a:solidFill>
            <a:srgbClr val="FFF8E7"/>
          </a:solidFill>
          <a:ln w="9525">
            <a:solidFill>
              <a:srgbClr val="8B3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3611880"/>
            <a:ext cx="539496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8B3A0F"/>
                </a:solidFill>
                <a:latin typeface="Microsoft JhengHei"/>
                <a:ea typeface="Microsoft JhengHei"/>
              </a:rPr>
              <a:t>顧慮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4023360"/>
            <a:ext cx="4937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</a:pPr>
            <a:r>
              <a:rPr sz="130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300">
                <a:solidFill>
                  <a:srgbClr val="4A3210"/>
                </a:solidFill>
                <a:latin typeface="Microsoft JhengHei"/>
                <a:ea typeface="Microsoft JhengHei"/>
              </a:rPr>
              <a:t>591/Google 搜尋與玉田森活混淆</a:t>
            </a:r>
          </a:p>
          <a:p>
            <a:pPr>
              <a:lnSpc>
                <a:spcPct val="135000"/>
              </a:lnSpc>
            </a:pPr>
            <a:r>
              <a:rPr sz="130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300">
                <a:solidFill>
                  <a:srgbClr val="4A3210"/>
                </a:solidFill>
                <a:latin typeface="Microsoft JhengHei"/>
                <a:ea typeface="Microsoft JhengHei"/>
              </a:rPr>
              <a:t>若兩案銷售期重疊，客戶會問是哪一期</a:t>
            </a:r>
          </a:p>
          <a:p>
            <a:pPr>
              <a:lnSpc>
                <a:spcPct val="135000"/>
              </a:lnSpc>
            </a:pPr>
            <a:r>
              <a:rPr sz="130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300">
                <a:solidFill>
                  <a:srgbClr val="4A3210"/>
                </a:solidFill>
                <a:latin typeface="Microsoft JhengHei"/>
                <a:ea typeface="Microsoft JhengHei"/>
              </a:rPr>
              <a:t>無獨立 narrative，僅靠地名分辨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263640"/>
            <a:ext cx="1124712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  <a:ea typeface="Microsoft JhengHei"/>
              </a:rPr>
              <a:t>適用情境：玉田 1 / 2 已交屋並淡出市場，本案不需獨立 narrative 時。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A0A0A0"/>
                </a:solidFill>
                <a:latin typeface="Microsoft JhengHei"/>
                <a:ea typeface="Microsoft JhengHei"/>
              </a:rPr>
              <a:t>6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8A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4A3210"/>
                </a:solidFill>
                <a:latin typeface="Microsoft JhengHei"/>
                <a:ea typeface="Microsoft JhengHei"/>
              </a:rPr>
              <a:t>06　路線 B — 副標延伸 ★ 推薦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09728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  <a:ea typeface="Microsoft JhengHei"/>
              </a:rPr>
              <a:t>「中道森活｜◯」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731520" cy="31750"/>
          </a:xfrm>
          <a:prstGeom prst="rect">
            <a:avLst/>
          </a:prstGeom>
          <a:solidFill>
            <a:srgbClr val="8B3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554480"/>
          <a:ext cx="1124712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640080"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副標字</a:t>
                      </a:r>
                    </a:p>
                  </a:txBody>
                  <a:tcPr>
                    <a:solidFill>
                      <a:srgbClr val="4A3210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全名</a:t>
                      </a:r>
                    </a:p>
                  </a:txBody>
                  <a:tcPr>
                    <a:solidFill>
                      <a:srgbClr val="4A3210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字意</a:t>
                      </a:r>
                    </a:p>
                  </a:txBody>
                  <a:tcPr>
                    <a:solidFill>
                      <a:srgbClr val="4A3210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對應 TA</a:t>
                      </a:r>
                    </a:p>
                  </a:txBody>
                  <a:tcPr>
                    <a:solidFill>
                      <a:srgbClr val="4A3210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推薦度</a:t>
                      </a:r>
                    </a:p>
                  </a:txBody>
                  <a:tcPr>
                    <a:solidFill>
                      <a:srgbClr val="4A3210"/>
                    </a:solidFill>
                  </a:tcPr>
                </a:tc>
              </a:tr>
              <a:tr h="640080">
                <a:tc>
                  <a:txBody>
                    <a:bodyPr lIns="50800" rIns="50800" tIns="25400" bIns="25400"/>
                    <a:lstStyle/>
                    <a:p>
                      <a:pPr algn="l"/>
                      <a:r>
                        <a:rPr sz="1400" b="1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栖</a:t>
                      </a:r>
                    </a:p>
                  </a:txBody>
                  <a:tcPr>
                    <a:solidFill>
                      <a:srgbClr val="F5CB4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400" b="1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中道森活｜栖</a:t>
                      </a:r>
                    </a:p>
                  </a:txBody>
                  <a:tcPr>
                    <a:solidFill>
                      <a:srgbClr val="F5CB4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400" b="1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棲息、停靠</a:t>
                      </a:r>
                    </a:p>
                  </a:txBody>
                  <a:tcPr>
                    <a:solidFill>
                      <a:srgbClr val="F5CB4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400" b="1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TA3 退休置產</a:t>
                      </a:r>
                    </a:p>
                  </a:txBody>
                  <a:tcPr>
                    <a:solidFill>
                      <a:srgbClr val="F5CB4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400" b="1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★★★★★</a:t>
                      </a:r>
                    </a:p>
                  </a:txBody>
                  <a:tcPr>
                    <a:solidFill>
                      <a:srgbClr val="F5CB4F"/>
                    </a:solidFill>
                  </a:tcPr>
                </a:tc>
              </a:tr>
              <a:tr h="640080">
                <a:tc>
                  <a:txBody>
                    <a:bodyPr lIns="50800" rIns="50800" tIns="25400" bIns="25400"/>
                    <a:lstStyle/>
                    <a:p>
                      <a:pPr algn="l"/>
                      <a:r>
                        <a:rPr sz="1400" b="1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4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中道森活｜序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4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序章、開始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4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TA1 返鄉換屋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4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★★★★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lIns="50800" rIns="50800" tIns="25400" bIns="25400"/>
                    <a:lstStyle/>
                    <a:p>
                      <a:pPr algn="l"/>
                      <a:r>
                        <a:rPr sz="1400" b="1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誠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4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中道森活｜誠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4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誠意、用心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4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TA2 在地二代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4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★★★★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</a:tr>
              <a:tr h="640080">
                <a:tc>
                  <a:txBody>
                    <a:bodyPr lIns="50800" rIns="50800" tIns="25400" bIns="25400"/>
                    <a:lstStyle/>
                    <a:p>
                      <a:pPr algn="l"/>
                      <a:r>
                        <a:rPr sz="1400" b="1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拾光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4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中道森活｜拾光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4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拾起時光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4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TA1+TA3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4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★★★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lIns="50800" rIns="50800" tIns="25400" bIns="25400"/>
                    <a:lstStyle/>
                    <a:p>
                      <a:pPr algn="l"/>
                      <a:r>
                        <a:rPr sz="1400" b="1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植光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4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中道森活｜植光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4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植下陽光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4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TA2 年輕家庭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4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★★★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577840"/>
            <a:ext cx="11247120" cy="914400"/>
          </a:xfrm>
          <a:prstGeom prst="rect">
            <a:avLst/>
          </a:prstGeom>
          <a:solidFill>
            <a:srgbClr val="F5CB4F"/>
          </a:solidFill>
          <a:ln w="9525">
            <a:solidFill>
              <a:srgbClr val="4A32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50992"/>
            <a:ext cx="109728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8B3A0F"/>
                </a:solidFill>
                <a:latin typeface="Microsoft JhengHei"/>
                <a:ea typeface="Microsoft JhengHei"/>
              </a:rPr>
              <a:t>推薦理由：「中道森活｜栖」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035040"/>
            <a:ext cx="10972800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35000"/>
              </a:lnSpc>
            </a:pPr>
            <a:r>
              <a:rPr sz="1200" b="0">
                <a:solidFill>
                  <a:srgbClr val="4A3210"/>
                </a:solidFill>
                <a:latin typeface="Microsoft JhengHei"/>
                <a:ea typeface="Microsoft JhengHei"/>
              </a:rPr>
              <a:t>「栖」承接主視覺「在繁華之中收藏寧靜」— 一個字打中三組 TA 的共同價值觀「想要一個落腳的家」。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A0A0A0"/>
                </a:solidFill>
                <a:latin typeface="Microsoft JhengHei"/>
                <a:ea typeface="Microsoft JhengHei"/>
              </a:rPr>
              <a:t>7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8A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4A3210"/>
                </a:solidFill>
                <a:latin typeface="Microsoft JhengHei"/>
                <a:ea typeface="Microsoft JhengHei"/>
              </a:rPr>
              <a:t>07　路線 C — 系列編號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09728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  <a:ea typeface="Microsoft JhengHei"/>
              </a:rPr>
              <a:t>「中道森活 NO.x」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731520" cy="31750"/>
          </a:xfrm>
          <a:prstGeom prst="rect">
            <a:avLst/>
          </a:prstGeom>
          <a:solidFill>
            <a:srgbClr val="8B3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554480"/>
          <a:ext cx="112471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0"/>
                <a:gridCol w="5623560"/>
              </a:tblGrid>
              <a:tr h="548640"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命名</a:t>
                      </a:r>
                    </a:p>
                  </a:txBody>
                  <a:tcPr>
                    <a:solidFill>
                      <a:srgbClr val="4A3210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賣點 / 風格</a:t>
                      </a:r>
                    </a:p>
                  </a:txBody>
                  <a:tcPr>
                    <a:solidFill>
                      <a:srgbClr val="4A3210"/>
                    </a:solidFill>
                  </a:tcPr>
                </a:tc>
              </a:tr>
              <a:tr h="548640">
                <a:tc>
                  <a:txBody>
                    <a:bodyPr lIns="50800" rIns="50800" tIns="25400" bIns="25400"/>
                    <a:lstStyle/>
                    <a:p>
                      <a:pPr algn="l"/>
                      <a:r>
                        <a:rPr sz="1400" b="1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中道森活 NO.1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4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與玉田森活 1/2 同邏輯，本案=系列第三作。直觀。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</a:tr>
              <a:tr h="548640">
                <a:tc>
                  <a:txBody>
                    <a:bodyPr lIns="50800" rIns="50800" tIns="25400" bIns="25400"/>
                    <a:lstStyle/>
                    <a:p>
                      <a:pPr algn="l"/>
                      <a:r>
                        <a:rPr sz="1400" b="1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中道森活 III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4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羅馬數字 III，呼應「鼎弘第 3 個森活」。視覺有設計感。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lIns="50800" rIns="50800" tIns="25400" bIns="25400"/>
                    <a:lstStyle/>
                    <a:p>
                      <a:pPr algn="l"/>
                      <a:r>
                        <a:rPr sz="1400" b="1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中道森活 27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4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強調戶數 27 戶。年輕、極簡。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</a:tr>
              <a:tr h="548640">
                <a:tc>
                  <a:txBody>
                    <a:bodyPr lIns="50800" rIns="50800" tIns="25400" bIns="25400"/>
                    <a:lstStyle/>
                    <a:p>
                      <a:pPr algn="l"/>
                      <a:r>
                        <a:rPr sz="1400" b="1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中道森活｜小宇宙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4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副標走詩意路線，年輕客層共鳴。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572000"/>
            <a:ext cx="11247120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1300" b="1">
                <a:solidFill>
                  <a:srgbClr val="8B3A0F"/>
                </a:solidFill>
                <a:latin typeface="Microsoft JhengHei"/>
                <a:ea typeface="Microsoft JhengHei"/>
              </a:rPr>
              <a:t>潛在風險：系列編號顯得「公式化」，與業主希望的「典雅生活感」主視覺有違和。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120640"/>
            <a:ext cx="11247120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4A3210"/>
                </a:solidFill>
                <a:latin typeface="Microsoft JhengHei"/>
                <a:ea typeface="Microsoft JhengHei"/>
              </a:rPr>
              <a:t>建議：若選 C，建議 III（最有設計感、與羅馬數字典雅感呼應主視覺花卉）。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A0A0A0"/>
                </a:solidFill>
                <a:latin typeface="Microsoft JhengHei"/>
                <a:ea typeface="Microsoft JhengHei"/>
              </a:rPr>
              <a:t>8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8A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4A3210"/>
                </a:solidFill>
                <a:latin typeface="Microsoft JhengHei"/>
                <a:ea typeface="Microsoft JhengHei"/>
              </a:rPr>
              <a:t>08　推薦 TOP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09728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  <a:ea typeface="Microsoft JhengHei"/>
              </a:rPr>
              <a:t>與三組 TA 之 message 對應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731520" cy="31750"/>
          </a:xfrm>
          <a:prstGeom prst="rect">
            <a:avLst/>
          </a:prstGeom>
          <a:solidFill>
            <a:srgbClr val="8B3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691640"/>
            <a:ext cx="11247120" cy="1417320"/>
          </a:xfrm>
          <a:prstGeom prst="rect">
            <a:avLst/>
          </a:prstGeom>
          <a:solidFill>
            <a:srgbClr val="E8AC1B"/>
          </a:solidFill>
          <a:ln w="9525">
            <a:solidFill>
              <a:srgbClr val="4A32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828800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</a:rPr>
              <a:t>第一推薦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1783080"/>
            <a:ext cx="4114800" cy="5486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2200" b="1">
                <a:solidFill>
                  <a:srgbClr val="FFFFFF"/>
                </a:solidFill>
                <a:latin typeface="Microsoft JhengHei"/>
                <a:ea typeface="Microsoft JhengHei"/>
              </a:rPr>
              <a:t>中道森活｜栖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2423160"/>
            <a:ext cx="41148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FFFFFF"/>
                </a:solidFill>
                <a:latin typeface="Microsoft JhengHei"/>
                <a:ea typeface="Microsoft JhengHei"/>
              </a:rPr>
              <a:t>TA3 退休置產 + TA1 返鄉換屋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103120"/>
            <a:ext cx="4480560" cy="6400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Microsoft JhengHei"/>
                <a:ea typeface="Microsoft JhengHei"/>
              </a:rPr>
              <a:t>「在繁華之中，找到一個栖息」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200400"/>
            <a:ext cx="11247120" cy="1417320"/>
          </a:xfrm>
          <a:prstGeom prst="rect">
            <a:avLst/>
          </a:prstGeom>
          <a:solidFill>
            <a:srgbClr val="FFF8E7"/>
          </a:solidFill>
          <a:ln w="9525">
            <a:solidFill>
              <a:srgbClr val="4A32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337560"/>
            <a:ext cx="1828800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1500" b="1">
                <a:solidFill>
                  <a:srgbClr val="4A3210"/>
                </a:solidFill>
                <a:latin typeface="Microsoft JhengHei"/>
                <a:ea typeface="Microsoft JhengHei"/>
              </a:rPr>
              <a:t>第二推薦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3291840"/>
            <a:ext cx="4114800" cy="5486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2200" b="1">
                <a:solidFill>
                  <a:srgbClr val="4A3210"/>
                </a:solidFill>
                <a:latin typeface="Microsoft JhengHei"/>
                <a:ea typeface="Microsoft JhengHei"/>
              </a:rPr>
              <a:t>中道森活 III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77440" y="3931920"/>
            <a:ext cx="41148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4A3210"/>
                </a:solidFill>
                <a:latin typeface="Microsoft JhengHei"/>
                <a:ea typeface="Microsoft JhengHei"/>
              </a:rPr>
              <a:t>TA1 返鄉換屋 + TA2 在地二代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3611880"/>
            <a:ext cx="4480560" cy="6400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30000"/>
              </a:lnSpc>
            </a:pPr>
            <a:r>
              <a:rPr sz="1400" b="0">
                <a:solidFill>
                  <a:srgbClr val="4A3210"/>
                </a:solidFill>
                <a:latin typeface="Microsoft JhengHei"/>
                <a:ea typeface="Microsoft JhengHei"/>
              </a:rPr>
              <a:t>「鼎弘森活，第三個家的故事」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709160"/>
            <a:ext cx="11247120" cy="1417320"/>
          </a:xfrm>
          <a:prstGeom prst="rect">
            <a:avLst/>
          </a:prstGeom>
          <a:solidFill>
            <a:srgbClr val="FFF8E7"/>
          </a:solidFill>
          <a:ln w="9525">
            <a:solidFill>
              <a:srgbClr val="4A32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846320"/>
            <a:ext cx="1828800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1500" b="1">
                <a:solidFill>
                  <a:srgbClr val="4A3210"/>
                </a:solidFill>
                <a:latin typeface="Microsoft JhengHei"/>
                <a:ea typeface="Microsoft JhengHei"/>
              </a:rPr>
              <a:t>第三推薦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40" y="4800600"/>
            <a:ext cx="4114800" cy="5486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2200" b="1">
                <a:solidFill>
                  <a:srgbClr val="4A3210"/>
                </a:solidFill>
                <a:latin typeface="Microsoft JhengHei"/>
                <a:ea typeface="Microsoft JhengHei"/>
              </a:rPr>
              <a:t>中道森活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40" y="5440680"/>
            <a:ext cx="41148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4A3210"/>
                </a:solidFill>
                <a:latin typeface="Microsoft JhengHei"/>
                <a:ea typeface="Microsoft JhengHei"/>
              </a:rPr>
              <a:t>全 TA 安全牌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5120640"/>
            <a:ext cx="4480560" cy="6400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30000"/>
              </a:lnSpc>
            </a:pPr>
            <a:r>
              <a:rPr sz="1400" b="0">
                <a:solidFill>
                  <a:srgbClr val="4A3210"/>
                </a:solidFill>
                <a:latin typeface="Microsoft JhengHei"/>
                <a:ea typeface="Microsoft JhengHei"/>
              </a:rPr>
              <a:t>「玉田之後，中道再續」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A0A0A0"/>
                </a:solidFill>
                <a:latin typeface="Microsoft JhengHei"/>
                <a:ea typeface="Microsoft JhengHei"/>
              </a:rPr>
              <a:t>9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8A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4A3210"/>
                </a:solidFill>
                <a:latin typeface="Microsoft JhengHei"/>
                <a:ea typeface="Microsoft JhengHei"/>
              </a:rPr>
              <a:t>09　主視覺與命名搭配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09728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  <a:ea typeface="Microsoft JhengHei"/>
              </a:rPr>
              <a:t>業主已選方向（黃底花卉典雅插畫） — 兩個版本的對應建議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731520" cy="31750"/>
          </a:xfrm>
          <a:prstGeom prst="rect">
            <a:avLst/>
          </a:prstGeom>
          <a:solidFill>
            <a:srgbClr val="8B3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554480"/>
            <a:ext cx="5394960" cy="4572000"/>
          </a:xfrm>
          <a:prstGeom prst="rect">
            <a:avLst/>
          </a:prstGeom>
          <a:solidFill>
            <a:srgbClr val="E8AC1B"/>
          </a:solidFill>
          <a:ln w="9525">
            <a:solidFill>
              <a:srgbClr val="4A32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194560"/>
            <a:ext cx="5394960" cy="6400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3200" b="1">
                <a:solidFill>
                  <a:srgbClr val="FFFFFF"/>
                </a:solidFill>
                <a:latin typeface="Microsoft JhengHei"/>
                <a:ea typeface="Microsoft JhengHei"/>
              </a:rPr>
              <a:t>中  道  森  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926080"/>
            <a:ext cx="539496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FFFFFF"/>
                </a:solidFill>
                <a:latin typeface="Microsoft JhengHei"/>
                <a:ea typeface="Microsoft JhengHei"/>
              </a:rPr>
              <a:t>（鬱金香 + 水仙｜白色標題）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657600"/>
            <a:ext cx="5029200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1800" b="1">
                <a:solidFill>
                  <a:srgbClr val="4A3210"/>
                </a:solidFill>
                <a:latin typeface="Microsoft JhengHei"/>
                <a:ea typeface="Microsoft JhengHei"/>
              </a:rPr>
              <a:t>版本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11480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</a:pPr>
            <a:r>
              <a:rPr sz="115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150">
                <a:solidFill>
                  <a:srgbClr val="4A3210"/>
                </a:solidFill>
                <a:latin typeface="Microsoft JhengHei"/>
                <a:ea typeface="Microsoft JhengHei"/>
              </a:rPr>
              <a:t>色調明亮、年輕感較強</a:t>
            </a:r>
          </a:p>
          <a:p>
            <a:pPr>
              <a:lnSpc>
                <a:spcPct val="135000"/>
              </a:lnSpc>
            </a:pPr>
            <a:r>
              <a:rPr sz="115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150">
                <a:solidFill>
                  <a:srgbClr val="4A3210"/>
                </a:solidFill>
                <a:latin typeface="Microsoft JhengHei"/>
                <a:ea typeface="Microsoft JhengHei"/>
              </a:rPr>
              <a:t>適合：TA2 在地二代、TA1 年輕返鄉</a:t>
            </a:r>
          </a:p>
          <a:p>
            <a:pPr>
              <a:lnSpc>
                <a:spcPct val="135000"/>
              </a:lnSpc>
            </a:pPr>
            <a:r>
              <a:rPr sz="115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150">
                <a:solidFill>
                  <a:srgbClr val="4A3210"/>
                </a:solidFill>
                <a:latin typeface="Microsoft JhengHei"/>
                <a:ea typeface="Microsoft JhengHei"/>
              </a:rPr>
              <a:t>建議命名：中道森活｜栖、植光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554480"/>
            <a:ext cx="5394960" cy="4572000"/>
          </a:xfrm>
          <a:prstGeom prst="rect">
            <a:avLst/>
          </a:prstGeom>
          <a:solidFill>
            <a:srgbClr val="F5CB4F"/>
          </a:solidFill>
          <a:ln w="9525">
            <a:solidFill>
              <a:srgbClr val="4A32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2194560"/>
            <a:ext cx="5394960" cy="6400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3200" b="1">
                <a:solidFill>
                  <a:srgbClr val="4A3210"/>
                </a:solidFill>
                <a:latin typeface="Microsoft JhengHei"/>
                <a:ea typeface="Microsoft JhengHei"/>
              </a:rPr>
              <a:t>中  道  森  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926080"/>
            <a:ext cx="539496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4A3210"/>
                </a:solidFill>
                <a:latin typeface="Microsoft JhengHei"/>
                <a:ea typeface="Microsoft JhengHei"/>
              </a:rPr>
              <a:t>（玫瑰｜深棕標題）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657600"/>
            <a:ext cx="5029200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1800" b="1">
                <a:solidFill>
                  <a:srgbClr val="4A3210"/>
                </a:solidFill>
                <a:latin typeface="Microsoft JhengHei"/>
                <a:ea typeface="Microsoft JhengHei"/>
              </a:rPr>
              <a:t>版本 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411480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</a:pPr>
            <a:r>
              <a:rPr sz="115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150">
                <a:solidFill>
                  <a:srgbClr val="4A3210"/>
                </a:solidFill>
                <a:latin typeface="Microsoft JhengHei"/>
                <a:ea typeface="Microsoft JhengHei"/>
              </a:rPr>
              <a:t>色調沉穩、典雅感較強</a:t>
            </a:r>
          </a:p>
          <a:p>
            <a:pPr>
              <a:lnSpc>
                <a:spcPct val="135000"/>
              </a:lnSpc>
            </a:pPr>
            <a:r>
              <a:rPr sz="115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150">
                <a:solidFill>
                  <a:srgbClr val="4A3210"/>
                </a:solidFill>
                <a:latin typeface="Microsoft JhengHei"/>
                <a:ea typeface="Microsoft JhengHei"/>
              </a:rPr>
              <a:t>適合：TA3 退休置產、高品味 TA1</a:t>
            </a:r>
          </a:p>
          <a:p>
            <a:pPr>
              <a:lnSpc>
                <a:spcPct val="135000"/>
              </a:lnSpc>
            </a:pPr>
            <a:r>
              <a:rPr sz="115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150">
                <a:solidFill>
                  <a:srgbClr val="4A3210"/>
                </a:solidFill>
                <a:latin typeface="Microsoft JhengHei"/>
                <a:ea typeface="Microsoft JhengHei"/>
              </a:rPr>
              <a:t>建議命名：中道森活｜栖、序、誠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263640"/>
            <a:ext cx="1124712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8B3A0F"/>
                </a:solidFill>
                <a:latin typeface="Microsoft JhengHei"/>
                <a:ea typeface="Microsoft JhengHei"/>
              </a:rPr>
              <a:t>建議：先選命名 → 再依命名調主視覺色調強弱（版本 B 配「栖」協同最佳）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A0A0A0"/>
                </a:solidFill>
                <a:latin typeface="Microsoft JhengHei"/>
                <a:ea typeface="Microsoft JhengHei"/>
              </a:rPr>
              <a:t>10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8A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4A3210"/>
                </a:solidFill>
                <a:latin typeface="Microsoft JhengHei"/>
                <a:ea typeface="Microsoft JhengHei"/>
              </a:rPr>
              <a:t>10　商標 / 域名 / 法規檢查清單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09728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  <a:ea typeface="Microsoft JhengHei"/>
              </a:rPr>
              <a:t>命名定案前的 5 項驗證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731520" cy="31750"/>
          </a:xfrm>
          <a:prstGeom prst="rect">
            <a:avLst/>
          </a:prstGeom>
          <a:solidFill>
            <a:srgbClr val="8B3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554480"/>
          <a:ext cx="1124712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685800"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#</a:t>
                      </a:r>
                    </a:p>
                  </a:txBody>
                  <a:tcPr>
                    <a:solidFill>
                      <a:srgbClr val="4A3210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檢查項</a:t>
                      </a:r>
                    </a:p>
                  </a:txBody>
                  <a:tcPr>
                    <a:solidFill>
                      <a:srgbClr val="4A3210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工具</a:t>
                      </a:r>
                    </a:p>
                  </a:txBody>
                  <a:tcPr>
                    <a:solidFill>
                      <a:srgbClr val="4A3210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現況</a:t>
                      </a:r>
                    </a:p>
                  </a:txBody>
                  <a:tcPr>
                    <a:solidFill>
                      <a:srgbClr val="4A3210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風險</a:t>
                      </a:r>
                    </a:p>
                  </a:txBody>
                  <a:tcPr>
                    <a:solidFill>
                      <a:srgbClr val="4A3210"/>
                    </a:solidFill>
                  </a:tcPr>
                </a:tc>
              </a:tr>
              <a:tr h="685800">
                <a:tc>
                  <a:txBody>
                    <a:bodyPr lIns="50800" rIns="50800" tIns="25400" bIns="25400"/>
                    <a:lstStyle/>
                    <a:p>
                      <a:pPr algn="l"/>
                      <a:r>
                        <a:rPr sz="1150" b="1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1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15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商標檢索（智財局）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15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tipo.gov.tw 商標檢索系統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15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待查「中道森活」、「中道森活｜栖」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15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可能與既有商標衝突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</a:tr>
              <a:tr h="685800">
                <a:tc>
                  <a:txBody>
                    <a:bodyPr lIns="50800" rIns="50800" tIns="25400" bIns="25400"/>
                    <a:lstStyle/>
                    <a:p>
                      <a:pPr algn="l"/>
                      <a:r>
                        <a:rPr sz="1150" b="1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15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591 案名查重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15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market.591.com.tw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15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已查無同名宜蘭案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15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✅ 通過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lIns="50800" rIns="50800" tIns="25400" bIns="25400"/>
                    <a:lstStyle/>
                    <a:p>
                      <a:pPr algn="l"/>
                      <a:r>
                        <a:rPr sz="1150" b="1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3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15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Google 搜尋衝突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15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Google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15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需確認無同名公司／品牌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15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依命名而定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</a:tr>
              <a:tr h="685800">
                <a:tc>
                  <a:txBody>
                    <a:bodyPr lIns="50800" rIns="50800" tIns="25400" bIns="25400"/>
                    <a:lstStyle/>
                    <a:p>
                      <a:pPr algn="l"/>
                      <a:r>
                        <a:rPr sz="1150" b="1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15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域名可用性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15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Google Domains、Gandi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15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建議買 zhong-dao-sen-huo.com / .tw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15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易被搶註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lIns="50800" rIns="50800" tIns="25400" bIns="25400"/>
                    <a:lstStyle/>
                    <a:p>
                      <a:pPr algn="l"/>
                      <a:r>
                        <a:rPr sz="1150" b="1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5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15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Facebook / IG 帳號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15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Meta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15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建議同步註冊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15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易被搶註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5852160"/>
            <a:ext cx="11247120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1300" b="1">
                <a:solidFill>
                  <a:srgbClr val="4A3210"/>
                </a:solidFill>
                <a:latin typeface="Microsoft JhengHei"/>
                <a:ea typeface="Microsoft JhengHei"/>
              </a:rPr>
              <a:t>璞域可代執行第 1、4、5 項；建議命名定案後 5 個工作天內完成。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A0A0A0"/>
                </a:solidFill>
                <a:latin typeface="Microsoft JhengHei"/>
                <a:ea typeface="Microsoft JhengHei"/>
              </a:rPr>
              <a:t>11 /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8A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4A3210"/>
                </a:solidFill>
                <a:latin typeface="Microsoft JhengHei"/>
                <a:ea typeface="Microsoft JhengHei"/>
              </a:rPr>
              <a:t>11　下一步推進計畫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09728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  <a:ea typeface="Microsoft JhengHei"/>
              </a:rPr>
              <a:t>命名定案 → CI → 主視覺 → 上市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731520" cy="31750"/>
          </a:xfrm>
          <a:prstGeom prst="rect">
            <a:avLst/>
          </a:prstGeom>
          <a:solidFill>
            <a:srgbClr val="8B3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828800"/>
            <a:ext cx="2194560" cy="3291840"/>
          </a:xfrm>
          <a:prstGeom prst="rect">
            <a:avLst/>
          </a:prstGeom>
          <a:solidFill>
            <a:srgbClr val="F5CB4F"/>
          </a:solidFill>
          <a:ln w="9525">
            <a:solidFill>
              <a:srgbClr val="4A32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965960"/>
            <a:ext cx="2194560" cy="7315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8B3A0F"/>
                </a:solidFill>
                <a:latin typeface="Microsoft JhengHei"/>
                <a:ea typeface="Microsoft JhengHei"/>
              </a:rPr>
              <a:t>Step 1</a:t>
            </a:r>
          </a:p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8B3A0F"/>
                </a:solidFill>
                <a:latin typeface="Microsoft JhengHei"/>
                <a:ea typeface="Microsoft JhengHei"/>
              </a:rPr>
              <a:t>W1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2194560" cy="5486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1">
                <a:solidFill>
                  <a:srgbClr val="4A3210"/>
                </a:solidFill>
                <a:latin typeface="Microsoft JhengHei"/>
                <a:ea typeface="Microsoft JhengHei"/>
              </a:rPr>
              <a:t>本簡報業主回饋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383280"/>
            <a:ext cx="1920240" cy="16459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>
                <a:solidFill>
                  <a:srgbClr val="4A3210"/>
                </a:solidFill>
                <a:latin typeface="Microsoft JhengHei"/>
                <a:ea typeface="Microsoft JhengHei"/>
              </a:rPr>
              <a:t>確認 1 案名（A / B / C 路線）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70632" y="1828800"/>
            <a:ext cx="2194560" cy="3291840"/>
          </a:xfrm>
          <a:prstGeom prst="rect">
            <a:avLst/>
          </a:prstGeom>
          <a:solidFill>
            <a:srgbClr val="FFF8E7"/>
          </a:solidFill>
          <a:ln w="9525">
            <a:solidFill>
              <a:srgbClr val="4A32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70632" y="1965960"/>
            <a:ext cx="2194560" cy="7315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8B3A0F"/>
                </a:solidFill>
                <a:latin typeface="Microsoft JhengHei"/>
                <a:ea typeface="Microsoft JhengHei"/>
              </a:rPr>
              <a:t>Step 2</a:t>
            </a:r>
          </a:p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8B3A0F"/>
                </a:solidFill>
                <a:latin typeface="Microsoft JhengHei"/>
                <a:ea typeface="Microsoft JhengHei"/>
              </a:rPr>
              <a:t>W1~W2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70632" y="2743200"/>
            <a:ext cx="2194560" cy="5486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1">
                <a:solidFill>
                  <a:srgbClr val="4A3210"/>
                </a:solidFill>
                <a:latin typeface="Microsoft JhengHei"/>
                <a:ea typeface="Microsoft JhengHei"/>
              </a:rPr>
              <a:t>商標／域名驗證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07792" y="3383280"/>
            <a:ext cx="1920240" cy="16459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>
                <a:solidFill>
                  <a:srgbClr val="4A3210"/>
                </a:solidFill>
                <a:latin typeface="Microsoft JhengHei"/>
                <a:ea typeface="Microsoft JhengHei"/>
              </a:rPr>
              <a:t>璞域代執行 5 項檢查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84064" y="1828800"/>
            <a:ext cx="2194560" cy="3291840"/>
          </a:xfrm>
          <a:prstGeom prst="rect">
            <a:avLst/>
          </a:prstGeom>
          <a:solidFill>
            <a:srgbClr val="FFF8E7"/>
          </a:solidFill>
          <a:ln w="9525">
            <a:solidFill>
              <a:srgbClr val="4A32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84064" y="1965960"/>
            <a:ext cx="2194560" cy="7315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8B3A0F"/>
                </a:solidFill>
                <a:latin typeface="Microsoft JhengHei"/>
                <a:ea typeface="Microsoft JhengHei"/>
              </a:rPr>
              <a:t>Step 3</a:t>
            </a:r>
          </a:p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8B3A0F"/>
                </a:solidFill>
                <a:latin typeface="Microsoft JhengHei"/>
                <a:ea typeface="Microsoft JhengHei"/>
              </a:rPr>
              <a:t>W2~W3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84064" y="2743200"/>
            <a:ext cx="2194560" cy="5486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1">
                <a:solidFill>
                  <a:srgbClr val="4A3210"/>
                </a:solidFill>
                <a:latin typeface="Microsoft JhengHei"/>
                <a:ea typeface="Microsoft JhengHei"/>
              </a:rPr>
              <a:t>案名最終定稿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21224" y="3383280"/>
            <a:ext cx="1920240" cy="16459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>
                <a:solidFill>
                  <a:srgbClr val="4A3210"/>
                </a:solidFill>
                <a:latin typeface="Microsoft JhengHei"/>
                <a:ea typeface="Microsoft JhengHei"/>
              </a:rPr>
              <a:t>若有衝突回到備案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97496" y="1828800"/>
            <a:ext cx="2194560" cy="3291840"/>
          </a:xfrm>
          <a:prstGeom prst="rect">
            <a:avLst/>
          </a:prstGeom>
          <a:solidFill>
            <a:srgbClr val="F5CB4F"/>
          </a:solidFill>
          <a:ln w="9525">
            <a:solidFill>
              <a:srgbClr val="4A32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97496" y="1965960"/>
            <a:ext cx="2194560" cy="7315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8B3A0F"/>
                </a:solidFill>
                <a:latin typeface="Microsoft JhengHei"/>
                <a:ea typeface="Microsoft JhengHei"/>
              </a:rPr>
              <a:t>Step 4</a:t>
            </a:r>
          </a:p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8B3A0F"/>
                </a:solidFill>
                <a:latin typeface="Microsoft JhengHei"/>
                <a:ea typeface="Microsoft JhengHei"/>
              </a:rPr>
              <a:t>W3~W6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97496" y="2743200"/>
            <a:ext cx="2194560" cy="5486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1">
                <a:solidFill>
                  <a:srgbClr val="4A3210"/>
                </a:solidFill>
                <a:latin typeface="Microsoft JhengHei"/>
                <a:ea typeface="Microsoft JhengHei"/>
              </a:rPr>
              <a:t>CI / Logo 設計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34656" y="3383280"/>
            <a:ext cx="1920240" cy="16459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>
                <a:solidFill>
                  <a:srgbClr val="4A3210"/>
                </a:solidFill>
                <a:latin typeface="Microsoft JhengHei"/>
                <a:ea typeface="Microsoft JhengHei"/>
              </a:rPr>
              <a:t>案名 + 副標 + 字體系統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710928" y="1828800"/>
            <a:ext cx="2194560" cy="3291840"/>
          </a:xfrm>
          <a:prstGeom prst="rect">
            <a:avLst/>
          </a:prstGeom>
          <a:solidFill>
            <a:srgbClr val="FFF8E7"/>
          </a:solidFill>
          <a:ln w="9525">
            <a:solidFill>
              <a:srgbClr val="4A32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10928" y="1965960"/>
            <a:ext cx="2194560" cy="7315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8B3A0F"/>
                </a:solidFill>
                <a:latin typeface="Microsoft JhengHei"/>
                <a:ea typeface="Microsoft JhengHei"/>
              </a:rPr>
              <a:t>Step 5</a:t>
            </a:r>
          </a:p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8B3A0F"/>
                </a:solidFill>
                <a:latin typeface="Microsoft JhengHei"/>
                <a:ea typeface="Microsoft JhengHei"/>
              </a:rPr>
              <a:t>W4~W8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10928" y="2743200"/>
            <a:ext cx="2194560" cy="5486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1">
                <a:solidFill>
                  <a:srgbClr val="4A3210"/>
                </a:solidFill>
                <a:latin typeface="Microsoft JhengHei"/>
                <a:ea typeface="Microsoft JhengHei"/>
              </a:rPr>
              <a:t>主視覺迭代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48088" y="3383280"/>
            <a:ext cx="1920240" cy="16459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>
                <a:solidFill>
                  <a:srgbClr val="4A3210"/>
                </a:solidFill>
                <a:latin typeface="Microsoft JhengHei"/>
                <a:ea typeface="Microsoft JhengHei"/>
              </a:rPr>
              <a:t>Banner / DM / 看屋會館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486400"/>
            <a:ext cx="11247120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4A3210"/>
                </a:solidFill>
                <a:latin typeface="Microsoft JhengHei"/>
                <a:ea typeface="Microsoft JhengHei"/>
              </a:rPr>
              <a:t>目標：8 週內完成命名定稿與主視覺 1.0，銜接 Q4 2026 上市時程。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217920"/>
            <a:ext cx="1124712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  <a:ea typeface="Microsoft JhengHei"/>
              </a:rPr>
              <a:t>璞域品牌策略｜www.pure-branding.com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A0A0A0"/>
                </a:solidFill>
                <a:latin typeface="Microsoft JhengHei"/>
                <a:ea typeface="Microsoft JhengHei"/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