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DM 與廣告文案系列簡報　Copy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01　文案系統架構 — 從 tagline 到 long copy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02　Tagline 三案（品牌一句話）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03　主標題系列（6 個方向）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04　副標題系列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05　Body Copy × TA1 返鄉換屋族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06　Body Copy × TA2 在地二代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07　Body Copy × TA3 退休置產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08　CTA（行動呼籲）系列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09　LINE 群組訊息（轉發引導）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10　FB / IG 文案（含 hashtag）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11　售屋手冊文案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12　通路 × 文案配對表</a:t>
            </a:r>
          </a:p>
          <a:p>
            <a:pPr>
              <a:lnSpc>
                <a:spcPct val="145000"/>
              </a:lnSpc>
            </a:pPr>
            <a:r>
              <a:rPr sz="17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700">
                <a:solidFill>
                  <a:srgbClr val="4A3210"/>
                </a:solidFill>
                <a:latin typeface="Microsoft JhengHei"/>
                <a:ea typeface="Microsoft JhengHei"/>
              </a:rPr>
              <a:t>13　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文案系統架構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從一句話 → 一段話 → 完整故事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層級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字數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範例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Tagline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10~15 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品牌印象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「在繁華之中，找一個栖息。」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15~25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廣告抓眼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「中午能回家吃飯，是我搬回宜蘭最大的理由。」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25~40 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解釋主標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中道森活｜壯圍 27 戶｜透天 3 層｜千萬內｜2026 預售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Body 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100~300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情境敘事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詳第 5-7 頁，依 TA 分版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5~10 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下一步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「預約看屋 →」/「了解更多 →」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原則：每層都來自相同的故事內核（林先生的一天），不會自相矛盾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Tagline 三案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業主從 3 案中選定 — 將成為所有廣告物的標準字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第一案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</a:rPr>
              <a:t>「在繁華之中，找一個栖息。」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承接業主主視覺文案「在繁華中收藏寧靜」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全客層適用、典藏感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第二案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「回宜蘭，4 房一次到位。」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直接訴求 TA1 主力（4 房+返鄉）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TA1 主力訴求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18888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第三案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「中道森活｜你想要的家，剛好在這裡。」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強調品牌、走親近路線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76072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全客層、品牌延伸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主標題系列（6 個方向）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依不同訴求角度切入 — 可循環投放、避免疲乏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314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主標題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訴求角度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對應 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「中午能回家吃飯，是我搬回宜蘭最大的理由。」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家人陪伴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「孩子的學校，4 分鐘車。」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學區優勢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「在台北 8 年，省下來的時間，現在都還給家裡。」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時間換算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「住壯圍，假日不用出宜蘭。」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假日生活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/ TA1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「不用千萬，住進新成屋透天。」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價格甜蜜點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「鼎弘 3 案完銷的承諾，繼續寫下去。」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品牌信賴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主標題建議搭配「中道森活｜栖」字標 + 業主已選定主視覺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副標題系列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解釋主標、補資訊 — 通常與主標一起出現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5314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副標題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搭配主標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中道森活｜宜蘭壯圍五權段｜27 戶獨棟透天｜2026 預售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通用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千萬內｜建坪 38~43 坪｜4 房格局｜公館國小學區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雪山隧道 50 分鐘到台北｜陽明交大附醫 14 分鐘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1, 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鼎弘建設出品｜玉田森活 1/2 完銷｜自售品牌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壯圍沙丘 7 分鐘｜羅東夜市 22 分鐘｜全宜蘭都在身邊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5314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首批 5 戶 VIP 優惠｜現場洽詢｜接待中心開放預約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全主標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Body Copy × TA 1 返鄉換屋族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200 字版｜DM / 售屋手冊 / Facebook 廣告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5029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在台北 8 年，我們每月房租 30,000、通勤 90 分鐘。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搬回壯圍後：房貸 30,000、通勤一週兩次。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省下的時間，是和爸媽、孩子的時間。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中道森活，鼎弘建設第 3 個「森活」案。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27 戶獨棟透天，建坪 38~43 坪，4 房格局。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公館國小 4 分鐘車程、國道 5 壯圍交流道 8 分鐘、雪隧到台北 50 分鐘。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玉田森活 1 期、2 期全數完銷。</a:t>
            </a:r>
          </a:p>
          <a:p>
            <a:pPr>
              <a:lnSpc>
                <a:spcPct val="16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鼎弘的承諾，在中道繼續寫下去。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420624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文案結構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1：pain（台北高房租、長通勤）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2：reframe（同房貸、短通勤）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3：reward（時間=家人）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4：產品介紹（戶數、規格）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5：機能事實（學校、交通）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6：品牌信譽（玉田完銷）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段 7：呼籲（鼎弘繼續寫下去）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Body Copy × TA 2 在地二代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180 字版｜在地版本、語氣更直接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5029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在壯圍住了三十幾年，我們的第一個家，從爸媽的房子搬出來。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看了五結兩個案、宜蘭市三個案。建商都不認識。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中道森活｜鼎弘建設。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玉田森活 1 期 30 戶、2 期 14 戶都完銷的那個鼎弘。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不到千萬，住進新成屋透天。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4 房格局、3 層、自家前院停車。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公館國小 4 分鐘車、全聯 5 分鐘車、家樂福 15 分鐘車。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在地人，住在地的家。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420624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文案語氣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用「在壯圍住了三十幾年」開場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強調「建商都不認識」的不安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鼎弘玉田完銷實績解套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「不到千萬」是價格甜蜜點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在地語感：「住在地的家」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整段避免使用艱深詞彙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Body Copy × TA 3 雙北退休置產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200 字版｜典雅、慢、不急著賣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5029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孩子大了，老婆愛宜蘭。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想要一個自己的透天，安靜、有院子、面寬好。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中道森活｜栖。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鼎弘建設在壯圍五權段的第 27 戶住宅。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不到千萬。但每一戶都有自己的庭院。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陽明交大附醫 14 分鐘車、雪山隧道 50 分鐘到台北。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壯圍沙丘 7 分鐘、永鎮海濱 10 分鐘、礁溪溫泉 22 分鐘。</a:t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65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在繁華之中，找一個栖息。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554480"/>
            <a:ext cx="4206240" cy="45720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文案氣質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開頭一句話 — 不急著賣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「面寬好」「有院子」對應 TA3 在意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醫療放在前面（TA3 痛點）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假日景點豐富 — 退休生活想像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結尾「栖息」呼應 tagline</a:t>
            </a:r>
          </a:p>
          <a:p>
            <a:pPr>
              <a:lnSpc>
                <a:spcPct val="150000"/>
              </a:lnSpc>
            </a:pPr>
            <a:r>
              <a:rPr sz="11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00">
                <a:solidFill>
                  <a:srgbClr val="4A3210"/>
                </a:solidFill>
                <a:latin typeface="Microsoft JhengHei"/>
                <a:ea typeface="Microsoft JhengHei"/>
              </a:rPr>
              <a:t>整段節奏慢、留白多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CTA（行動呼籲）系列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從「看更多」到「下訂」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43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CTA 文字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認知期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了解更多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廣告、IG 限動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認知期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看看林先生的一天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影音廣告連結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興趣期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查看戶別與價格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案件頁、官網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興趣期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下載售屋手冊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群組訊息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考慮期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預約看屋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DM、廣告下單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考慮期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VIP 優惠登記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口碑、親友推薦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決策期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立即訂下 1 戶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現場銷售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CTA 三層級對應「Phase 1 暖身 / Phase 2 主力 / Phase 3 精品」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LINE 群組訊息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可直接轉發、口碑擴散用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1430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版本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訊息內容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字數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1143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短版（朋友圈）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鼎弘建設新案「中道森活」要開賣了
壯圍 27 戶透天｜千萬內｜4 房
看屋連結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40 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1143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中版（家族群）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玉田森活鼎弘的新案，這次在壯圍
27 戶透天｜建坪 38~43 坪
公館國小 4 分車、雪隧 50 分到台北
預約看屋 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70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長版（在地人脈）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鼎弘建設第三個「森活」開賣了
玉田 1 期 30 戶、2 期 14 戶都完銷
這次在壯圍五權段，27 戶獨棟透天
建坪 38~43 坪、4 房、3 層、千萬內
公館國小 4 分車、家樂福 15 分車
壯圍沙丘 7 分車、雪隧 50 分到台北
看屋會館已開放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150 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FB / IG 文案（含 hashtag）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社群投放用｜每週 2~3 篇輪播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平台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文案範本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Hashtag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「中午能回家吃飯，是我搬回宜蘭最大的理由。」
中道森活｜壯圍 27 戶透天｜千萬內｜2026 預售
了解更多 →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#中道森活 #鼎弘建設
#壯圍透天 #宜蘭新案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IG 主貼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在台北 8 年，省下來的時間，現在都還給家裡。
中道森活｜鼎弘建設第 3 個「森活」
點擊 bio 連結看屋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#中道森活 #鼎弘建設
#宜蘭 #壯圍 #透天
#返鄉 #宜蘭生活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IG 限動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🌼 中道森活｜栖
壯圍 27 戶｜千萬內
2026 預售開始
→ 滑動連結了解更多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914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在地社團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壯圍五權段新案開賣
鼎弘建設玉田森活的同主體
27 戶透天｜4 房｜千萬內
看屋會館已開放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售屋手冊文案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20 頁手冊的章節文案大綱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5169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頁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章節標題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內容方向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中道森活｜栖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封面：tagline + 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P2~3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鼎弘建設 — 第 3 個「森活」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 1/2 完銷實績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P4~5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 — 我們選擇這裡的理由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地理脈絡、5 圈生活範圍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P6~7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「中道」二字的意涵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命名故事、東方文化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P8~9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 戶配置圖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全區配置、A~G 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P10~11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建築規格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RC 結構、3 層、屋頂層、富彥代跑照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P12~13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公設與庭院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前院、屋頂層、共用空間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P14~15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戶別格局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房範例、平面圖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P16~17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機能光束圖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26 個點、5 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林先生的一天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故事頁、純文字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建造、用心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工序、建材、櫻花/TOTO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下一步｜接待中心資訊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聯絡方式、地址、QR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12　通路 × 文案配對表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哪個文案、用在哪個通路 — 一目了然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80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通路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副標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Body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 (TA1)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1 (中午回家)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3 (雪隧)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了解更多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 (TA2)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5 (千萬內)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2 (學區+坪數)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查看戶別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IG 主貼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3 (省下時間)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1 (通用)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點 bio 連結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tagline 1 (栖息)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4 (鼎弘信譽)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預約看屋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售屋手冊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tagline 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1, 3, 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3 個 TA 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聯絡接待中心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看屋會館海報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tagline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—（現場接待）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LINE 群組轉發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6 (VIP 優惠)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短/中版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看屋連結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080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YouTube 影片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 1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 秒腳本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了解更多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13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13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從文案系統到上線投放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業主回覆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Tagline 定案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第一案：在繁華之中找一個栖息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主標題確認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推薦 6 個全部使用、輪播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Body Copy 三版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TA1/TA2/TA3 各一版皆製作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售屋手冊製作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頁版本、預估 2 週完成設計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投放時程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Q3 2026 上線、配合 Phase 1 暖身期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代理投放 vs 自投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建議委由璞域代為投放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本簡報所有文案皆可直接使用 — 業主決定 tagline 後，3 天內可完成全套校稿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