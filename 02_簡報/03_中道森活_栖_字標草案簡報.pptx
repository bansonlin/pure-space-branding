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中道森活｜栖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最小可行字標草案簡報　Wordmark v0.1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戶｜透天 3 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01　設計前提：命名與主視覺的延伸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02　字標核心結構 — 中道森活｜栖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03　主字標 — 橫式（建案接待中心、平面廣告）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04　主字標 — 直式（捲軸、立柱、戶外旗）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05　堆疊變體 — 栖字主導（情境主視覺）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06　Logo 配色系統（兩版）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07　Typography 字體系統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08　應用情境模擬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09　禁忌與規範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10　下一步：選定後的延伸工項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設計前提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從命名與主視覺反推字標規範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4572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命名前提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案名：中道森活｜栖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主體：「中道森活」（地名 + 鼎弘系列）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辨識：「栖」（本案獨立辨識字）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字意：栖 = 棲息、停靠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客群：TA1 返鄉換屋 + TA3 退休置產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視覺繼承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色彩：金黃 #E8AC1B（主視覺）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輔色：深棕 #4A3210、米白 #FFF8E7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氣質：典雅、宋體骨架、東方語感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情緒：「在繁華中收藏寧靜」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字標風格：宋體本位、避免過度設計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字標設計三原則：①承接命名意涵 ②呼應主視覺色調 ③允許單字、多字延伸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字標核心結構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中道森活 ｜ 栖 ─ 兩段式品牌標準字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29260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35224" y="2414015"/>
            <a:ext cx="1097280" cy="12070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700" b="0">
                <a:solidFill>
                  <a:srgbClr val="4A3210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2504" y="2414015"/>
            <a:ext cx="1097280" cy="12070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700" b="0">
                <a:solidFill>
                  <a:srgbClr val="4A3210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9784" y="2414015"/>
            <a:ext cx="1097280" cy="12070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700" b="0">
                <a:solidFill>
                  <a:srgbClr val="4A3210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2414015"/>
            <a:ext cx="1097280" cy="12070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700" b="0">
                <a:solidFill>
                  <a:srgbClr val="4A3210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98664" y="2545689"/>
            <a:ext cx="54864" cy="94366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2359151"/>
            <a:ext cx="1316736" cy="131673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6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結構解構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74920"/>
            <a:ext cx="3657600" cy="1371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4A3210"/>
                </a:solidFill>
                <a:latin typeface="Microsoft JhengHei"/>
                <a:ea typeface="Microsoft JhengHei"/>
              </a:rPr>
              <a:t>中道森活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15000"/>
            <a:ext cx="36576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555555"/>
                </a:solidFill>
                <a:latin typeface="Microsoft JhengHei"/>
                <a:ea typeface="Microsoft JhengHei"/>
              </a:rPr>
              <a:t>鼎弘建設系列名｜延續玉田森活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5074920"/>
            <a:ext cx="3657600" cy="1371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120640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4A3210"/>
                </a:solidFill>
                <a:latin typeface="Microsoft JhengHei"/>
                <a:ea typeface="Microsoft JhengHei"/>
              </a:rPr>
              <a:t>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715000"/>
            <a:ext cx="36576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555555"/>
                </a:solidFill>
                <a:latin typeface="Microsoft JhengHei"/>
                <a:ea typeface="Microsoft JhengHei"/>
              </a:rPr>
              <a:t>分隔符｜薄、長、視覺呼吸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5074920"/>
            <a:ext cx="3657600" cy="1371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5120640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715000"/>
            <a:ext cx="36576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555555"/>
                </a:solidFill>
                <a:latin typeface="Microsoft JhengHei"/>
                <a:ea typeface="Microsoft JhengHei"/>
              </a:rPr>
              <a:t>本案辨識字｜放大、視覺重心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兩段式設計：系列名小、辨識字大 — 同邏輯適用未來「中道森活｜◯」系列延伸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主字標 — 橫式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適用：接待中心招牌、平面廣告、信封信紙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0104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4A3210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3024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4A3210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5944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4A3210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8864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4A3210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7515" y="2846984"/>
            <a:ext cx="25146" cy="432511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8391" y="2761488"/>
            <a:ext cx="603504" cy="60350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9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59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白底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691640"/>
            <a:ext cx="3657600" cy="27432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4904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4A3210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7824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4A3210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0744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4A3210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3665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4A3210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2315" y="2846984"/>
            <a:ext cx="25146" cy="432511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3191" y="2761488"/>
            <a:ext cx="603504" cy="60350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9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480559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米白底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691640"/>
            <a:ext cx="3657600" cy="27432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9705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2625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5544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78465" y="2786634"/>
            <a:ext cx="502920" cy="55321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FFFFF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207114" y="2846984"/>
            <a:ext cx="25146" cy="4325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57990" y="2761488"/>
            <a:ext cx="603504" cy="60350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900" b="0">
                <a:solidFill>
                  <a:srgbClr val="FFFFFF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480559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金黃底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尺寸規範（最小可讀）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57200" y="5440680"/>
          <a:ext cx="112471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5146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應用情境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最小寬度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最佳寬度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2514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數位（網站／DM）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180 px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320~480 px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栖字 ≥ 48 px 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2514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印刷（DM／名片）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55~85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栖字 ≥ 12 mm 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0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戶外（招牌／旗幟）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300 mm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800~2000 mm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視距 2~10 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字標尺寸基準：以「栖」字高度為單位 — 系列名 ≈ 0.6 × 栖高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主字標 — 直式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適用：捲軸、戶外立柱、廣告布、看屋會館立面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92024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4A3210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2316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4A3210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92608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4A3210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42900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4A3210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3977640"/>
            <a:ext cx="4572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160520"/>
            <a:ext cx="1280160" cy="12801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V1 標準直式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657600" cy="43891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92024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4A3210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42316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4A3210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92608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4A3210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42900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4A3210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3977640"/>
            <a:ext cx="4572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4160520"/>
            <a:ext cx="1280160" cy="12801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9893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V2 米白底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554480"/>
            <a:ext cx="3657600" cy="43891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92024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FFFFFF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42316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FFFFFF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92608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FFFFFF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429000"/>
            <a:ext cx="73152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FFFFFF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3977640"/>
            <a:ext cx="4572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160520"/>
            <a:ext cx="1280160" cy="12801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0">
                <a:solidFill>
                  <a:srgbClr val="FFFFFF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9893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V3 金黃底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直式版主用於戶外、看屋會館立面與長型廣告布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堆疊變體 — 栖字主導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適用：情境主視覺、單品 icon、Instagram 帳號頭像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4A3210"/>
                </a:solidFill>
                <a:latin typeface="Microsoft JhengHei"/>
                <a:ea typeface="Microsoft JhengHei"/>
              </a:rPr>
              <a:t>中　道　森　活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108960"/>
            <a:ext cx="548640" cy="1524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365760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6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L1 標準堆疊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3657600" cy="4114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4A3210"/>
                </a:solidFill>
                <a:latin typeface="Microsoft JhengHei"/>
                <a:ea typeface="Microsoft JhengHei"/>
              </a:rPr>
              <a:t>中　道　森　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108960"/>
            <a:ext cx="548640" cy="1524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291840"/>
            <a:ext cx="365760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6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7150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L2 米白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554480"/>
            <a:ext cx="3657600" cy="41148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468880"/>
            <a:ext cx="36576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4A3210"/>
                </a:solidFill>
                <a:latin typeface="Microsoft JhengHei"/>
                <a:ea typeface="Microsoft JhengHei"/>
              </a:rPr>
              <a:t>中　道　森　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3108960"/>
            <a:ext cx="548640" cy="1524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291840"/>
            <a:ext cx="365760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6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71500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L3 金黃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栖字成為視覺主角，系列名「中道森活」退居標題上方 — 適用於情緒/氛圍導向的單頁主視覺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Logo 配色系統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兩版主色系統 + 黑白輔助版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828800" cy="16459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Microsoft JhengHei"/>
                <a:ea typeface="Microsoft JhengHei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金黃 Saffron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</a:rPr>
              <a:t>#E8AC1B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691640"/>
            <a:ext cx="1920240" cy="16459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194560"/>
            <a:ext cx="192024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</a:rPr>
              <a:t>中道森活｜栖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1828800" cy="1645920"/>
          </a:xfrm>
          <a:prstGeom prst="rect">
            <a:avLst/>
          </a:prstGeom>
          <a:solidFill>
            <a:srgbClr val="4A3210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82880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Microsoft JhengHei"/>
                <a:ea typeface="Microsoft JhengHei"/>
              </a:rPr>
              <a:t>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945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深棕 Dark Brown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8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</a:rPr>
              <a:t>#4A3210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1920240" cy="1645920"/>
          </a:xfrm>
          <a:prstGeom prst="rect">
            <a:avLst/>
          </a:prstGeom>
          <a:solidFill>
            <a:srgbClr val="4A3210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194560"/>
            <a:ext cx="192024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</a:rPr>
              <a:t>中道森活｜栖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91640"/>
            <a:ext cx="1828800" cy="1645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82880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A3210"/>
                </a:solidFill>
                <a:latin typeface="Microsoft JhengHei"/>
                <a:ea typeface="Microsoft JhengHei"/>
              </a:rPr>
              <a:t>Supporting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945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米白 Cream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69748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Courier New"/>
                <a:ea typeface="Courier New"/>
              </a:rPr>
              <a:t>#FFF8E7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1691640"/>
            <a:ext cx="1920240" cy="1645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2194560"/>
            <a:ext cx="192024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4A3210"/>
                </a:solidFill>
                <a:latin typeface="Microsoft JhengHei"/>
                <a:ea typeface="Microsoft JhengHei"/>
              </a:rPr>
              <a:t>中道森活｜栖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1828800" cy="1645920"/>
          </a:xfrm>
          <a:prstGeom prst="rect">
            <a:avLst/>
          </a:prstGeom>
          <a:solidFill>
            <a:srgbClr val="8B3A0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Microsoft JhengHei"/>
                <a:ea typeface="Microsoft JhengHei"/>
              </a:rPr>
              <a:t>Accent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暗紅 Earth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</a:rPr>
              <a:t>#8B3A0F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703320"/>
            <a:ext cx="1920240" cy="1645920"/>
          </a:xfrm>
          <a:prstGeom prst="rect">
            <a:avLst/>
          </a:prstGeom>
          <a:solidFill>
            <a:srgbClr val="8B3A0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4206240"/>
            <a:ext cx="192024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</a:rPr>
              <a:t>中道森活｜栖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703320"/>
            <a:ext cx="1828800" cy="1645920"/>
          </a:xfrm>
          <a:prstGeom prst="rect">
            <a:avLst/>
          </a:prstGeom>
          <a:solidFill>
            <a:srgbClr val="1F1F1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84048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Microsoft JhengHei"/>
                <a:ea typeface="Microsoft JhengHei"/>
              </a:rPr>
              <a:t>Mono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20624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黑 Black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70916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</a:rPr>
              <a:t>#1F1F1F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703320"/>
            <a:ext cx="1920240" cy="1645920"/>
          </a:xfrm>
          <a:prstGeom prst="rect">
            <a:avLst/>
          </a:prstGeom>
          <a:solidFill>
            <a:srgbClr val="1F1F1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206240"/>
            <a:ext cx="192024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</a:rPr>
              <a:t>中道森活｜栖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703320"/>
            <a:ext cx="1828800" cy="1645920"/>
          </a:xfrm>
          <a:prstGeom prst="rect">
            <a:avLst/>
          </a:prstGeom>
          <a:solidFill>
            <a:srgbClr val="555555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384048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Microsoft JhengHei"/>
                <a:ea typeface="Microsoft JhengHei"/>
              </a:rPr>
              <a:t>Mono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20624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灰 Gray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70916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ourier New"/>
                <a:ea typeface="Courier New"/>
              </a:rPr>
              <a:t>#555555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3703320"/>
            <a:ext cx="1920240" cy="1645920"/>
          </a:xfrm>
          <a:prstGeom prst="rect">
            <a:avLst/>
          </a:prstGeom>
          <a:solidFill>
            <a:srgbClr val="555555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0" y="4206240"/>
            <a:ext cx="192024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</a:rPr>
              <a:t>中道森活｜栖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色彩來自業主主視覺；hex 值經測試對 logo 字標的對比皆通過 AA 可讀性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Typography 字體系統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中文／英文／數字 三套字體規範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400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中文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英文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數字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備援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品牌字標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思源宋體 Heavy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Garamond Bold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Garamond Bold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—（字標為向量繪製固定）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標題級 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思源黑體 Bold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Helvetica Bold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Helvetica Bold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微軟正黑體 Bold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內文 Body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思源黑體 Regular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Helvetica Regular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Helvetica Regular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微軟正黑體 Regular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強調 Accent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思源宋體 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Garamond Italic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Helvetica 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字體選擇邏輯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宋體（思源宋）：「栖」字、品牌字標主體 — 承接東方典雅、呼應主視覺花卉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黑體（思源黑）：標題、內文、表格 — 現代感、可讀性強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Garamond：英文與數字 — 與宋體相容性高、不打架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思源宋體 / 思源黑體均為 Adobe 開源字體，可商用授權，免費取得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應用情境模擬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字標在七種主要載體上的視覺呈現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57600" cy="219456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299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447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595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743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1785" y="2566263"/>
            <a:ext cx="20574" cy="353872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5228" y="2496312"/>
            <a:ext cx="493776" cy="49377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58768"/>
            <a:ext cx="36576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接待會館立面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3657600" cy="219456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4347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495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643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791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92265" y="2566263"/>
            <a:ext cx="20574" cy="353872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5708" y="2496312"/>
            <a:ext cx="493776" cy="49377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58768"/>
            <a:ext cx="36576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DM／售屋手冊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645920"/>
            <a:ext cx="3657600" cy="2194560"/>
          </a:xfrm>
          <a:prstGeom prst="rect">
            <a:avLst/>
          </a:prstGeom>
          <a:solidFill>
            <a:srgbClr val="4A3210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395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E8AC1B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543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E8AC1B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691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E8AC1B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8395" y="251688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E8AC1B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32745" y="2566263"/>
            <a:ext cx="20574" cy="35387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56189" y="2496312"/>
            <a:ext cx="493776" cy="49377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E8AC1B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858768"/>
            <a:ext cx="36576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戶外帆布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43400"/>
            <a:ext cx="3657600" cy="219456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299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FFFFFF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447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FFFFFF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595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FFFFFF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743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FFFFFF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51785" y="5263743"/>
            <a:ext cx="20574" cy="353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5228" y="5193792"/>
            <a:ext cx="493776" cy="49377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FFFFFF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56248"/>
            <a:ext cx="36576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Instagram 頭像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43434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4347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495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643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791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92265" y="5263743"/>
            <a:ext cx="20574" cy="353872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5708" y="5193792"/>
            <a:ext cx="493776" cy="49377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6556248"/>
            <a:ext cx="36576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信封信紙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4343400"/>
            <a:ext cx="3657600" cy="219456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8395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543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691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8395" y="5214366"/>
            <a:ext cx="411480" cy="45262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0">
                <a:solidFill>
                  <a:srgbClr val="4A3210"/>
                </a:solidFill>
                <a:latin typeface="Microsoft JhengHei"/>
                <a:ea typeface="Microsoft JhengHei"/>
              </a:rPr>
              <a:t>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32745" y="5263743"/>
            <a:ext cx="20574" cy="353872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56189" y="5193792"/>
            <a:ext cx="493776" cy="49377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4A3210"/>
                </a:solidFill>
                <a:latin typeface="Microsoft JhengHei"/>
                <a:ea typeface="Microsoft JhengHei"/>
              </a:rPr>
              <a:t>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6556248"/>
            <a:ext cx="36576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名片正面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禁忌與規範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字標不可這樣用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858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禁忌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原因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正確作法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拉伸／壓縮字標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字形扭曲影響辨識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等比例縮放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雙字標並列在 ≤ 80% 飽和的彩色背景上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對比不足、字標被吸進去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用米白或深棕版本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「栖」字單獨用（脫離系列名）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失去品牌錨點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至少保留「中道森活｜栖」全寫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在「栖」字旁加裝飾元素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破壞字標氣質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字標周圍保留 0.5 × 栖字高的留白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替換字標的字體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失去設計一致性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字標一律使用向量檔，禁止重新打字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完整字標規範手冊（Brand Guide）將於命名定稿後製作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10　下一步 — 字標選定後的延伸工項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六週交付計畫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7828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週次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工項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交付內容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8782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字標定稿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業主從本簡報 3 種變體中選定 + 微調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8782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向量檔交付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AI / EPS / SVG / PNG 全格式產出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Brand Guide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字標、色彩、字體、留白規範 PDF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8782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W4~5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印刷物製作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名片、信紙、信封、DM 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W5~6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數位資產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網站 banner、IG 模板、廣告主視覺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8783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看屋會館視覺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戶外招牌、立面、室內導引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預計六週內完成字標 + Brand Guide + 第一波應用物，銜接 Q4 2026 上市時程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11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