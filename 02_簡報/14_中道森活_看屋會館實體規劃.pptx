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 × 璞域品牌策略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中 道 森 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看屋會館實體規劃簡報　Sales Centre Layout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壯圍鄉五權段｜27 戶｜2026 Q3 啟用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簡報目錄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01　設計核心理念 — 三條 TA 動線、不互相干擾</a:t>
            </a:r>
          </a:p>
          <a:p>
            <a:pPr>
              <a:lnSpc>
                <a:spcPct val="145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02　平面圖總覽（80~120 坪建議）</a:t>
            </a:r>
          </a:p>
          <a:p>
            <a:pPr>
              <a:lnSpc>
                <a:spcPct val="145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03　九大區域功能說明</a:t>
            </a:r>
          </a:p>
          <a:p>
            <a:pPr>
              <a:lnSpc>
                <a:spcPct val="145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04　TA 1 動線（返鄉換屋族）</a:t>
            </a:r>
          </a:p>
          <a:p>
            <a:pPr>
              <a:lnSpc>
                <a:spcPct val="145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05　TA 2 動線（在地二代）</a:t>
            </a:r>
          </a:p>
          <a:p>
            <a:pPr>
              <a:lnSpc>
                <a:spcPct val="145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06　TA 3 動線（退休置產）</a:t>
            </a:r>
          </a:p>
          <a:p>
            <a:pPr>
              <a:lnSpc>
                <a:spcPct val="145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07　主視覺與海報安裝位置</a:t>
            </a:r>
          </a:p>
          <a:p>
            <a:pPr>
              <a:lnSpc>
                <a:spcPct val="145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08　家具與設備清單</a:t>
            </a:r>
          </a:p>
          <a:p>
            <a:pPr>
              <a:lnSpc>
                <a:spcPct val="145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09　預算試算（建置 + 維運）</a:t>
            </a:r>
          </a:p>
          <a:p>
            <a:pPr>
              <a:lnSpc>
                <a:spcPct val="145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800">
                <a:solidFill>
                  <a:srgbClr val="4A3210"/>
                </a:solidFill>
                <a:latin typeface="Microsoft JhengHei"/>
                <a:ea typeface="Microsoft JhengHei"/>
              </a:rPr>
              <a:t>10　下一步行動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設計核心理念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三條 TA 動線並存、不互相打擾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22860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8B3A0F"/>
                </a:solidFill>
                <a:latin typeface="Microsoft JhengHei"/>
                <a:ea typeface="Microsoft JhengHei"/>
              </a:rPr>
              <a:t>三大設計原則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①  動線分流：三組 TA 各有偏好路徑，接待員依客層判斷帶往不同區域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②  情境共存：兒童區（TA1）與貴賓室（TA3）必須空間隔離，避免互相影響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③  視覺一致：主視覺（v7 金黃·玫瑰）滲透每個區域，但密度依場景調整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1148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715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TA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動線特色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核心區域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1 返鄉換屋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週末攜家帶眷、希望快速看完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展示中心 → 實品屋 → 兒童區 → 洽談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2 在地二代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下班後快速看、需停車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展示中心 → 洽談 → 出口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3 退休置產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預約專人接待、需慢慢看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貴賓室 → 實品屋 → 庭院區 → 洽談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平面圖總覽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建議坪數 80~120 坪｜接待中心+實品屋一體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5212080"/>
            <a:ext cx="1828800" cy="9144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5394960"/>
            <a:ext cx="18288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入口接待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286000"/>
            <a:ext cx="4572000" cy="22860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54680"/>
            <a:ext cx="45720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展示中心</a:t>
            </a:r>
          </a:p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主視覺 + 模型 + 機能海報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286000"/>
            <a:ext cx="2377440" cy="32004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611880"/>
            <a:ext cx="237744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實品屋</a:t>
            </a:r>
          </a:p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（4 房格局示範）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3200400" cy="16459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32004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洽談區</a:t>
            </a:r>
          </a:p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（3 桌）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583680"/>
            <a:ext cx="1645920" cy="1371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995160"/>
            <a:ext cx="16459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兒童區</a:t>
            </a:r>
          </a:p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TA1 友善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6583680"/>
            <a:ext cx="1371600" cy="13716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6995160"/>
            <a:ext cx="13716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茶水區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4754880"/>
            <a:ext cx="1828800" cy="18288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5394960"/>
            <a:ext cx="182880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貴賓室</a:t>
            </a:r>
          </a:p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</a:rPr>
              <a:t>TA3 接待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5669280"/>
            <a:ext cx="1097280" cy="10972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5943600"/>
            <a:ext cx="109728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WC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5669280"/>
            <a:ext cx="11887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6400800"/>
            <a:ext cx="1188720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555555"/>
                </a:solidFill>
                <a:latin typeface="Microsoft JhengHei"/>
                <a:ea typeface="Microsoft JhengHei"/>
              </a:rPr>
              <a:t>後場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90672" y="1810512"/>
            <a:ext cx="219456" cy="219456"/>
          </a:xfrm>
          <a:prstGeom prst="rect">
            <a:avLst/>
          </a:prstGeom>
          <a:solidFill>
            <a:srgbClr val="8B3A0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2084832"/>
            <a:ext cx="12801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8B3A0F"/>
                </a:solidFill>
                <a:latin typeface="Microsoft JhengHei"/>
                <a:ea typeface="Microsoft JhengHei"/>
              </a:rPr>
              <a:t>P1</a:t>
            </a:r>
          </a:p>
          <a:p>
            <a:pPr algn="ctr">
              <a:lnSpc>
                <a:spcPct val="120000"/>
              </a:lnSpc>
            </a:pPr>
            <a:r>
              <a:rPr sz="800" b="1">
                <a:solidFill>
                  <a:srgbClr val="8B3A0F"/>
                </a:solidFill>
                <a:latin typeface="Microsoft JhengHei"/>
                <a:ea typeface="Microsoft JhengHei"/>
              </a:rPr>
              <a:t>入口正面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93391" y="4462272"/>
            <a:ext cx="219456" cy="219456"/>
          </a:xfrm>
          <a:prstGeom prst="rect">
            <a:avLst/>
          </a:prstGeom>
          <a:solidFill>
            <a:srgbClr val="8B3A0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39" y="4736592"/>
            <a:ext cx="12801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8B3A0F"/>
                </a:solidFill>
                <a:latin typeface="Microsoft JhengHei"/>
                <a:ea typeface="Microsoft JhengHei"/>
              </a:rPr>
              <a:t>P2</a:t>
            </a:r>
          </a:p>
          <a:p>
            <a:pPr algn="ctr">
              <a:lnSpc>
                <a:spcPct val="120000"/>
              </a:lnSpc>
            </a:pPr>
            <a:r>
              <a:rPr sz="800" b="1">
                <a:solidFill>
                  <a:srgbClr val="8B3A0F"/>
                </a:solidFill>
                <a:latin typeface="Microsoft JhengHei"/>
                <a:ea typeface="Microsoft JhengHei"/>
              </a:rPr>
              <a:t>接待桌後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93792" y="5102352"/>
            <a:ext cx="219456" cy="219456"/>
          </a:xfrm>
          <a:prstGeom prst="rect">
            <a:avLst/>
          </a:prstGeom>
          <a:solidFill>
            <a:srgbClr val="8B3A0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5376672"/>
            <a:ext cx="12801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8B3A0F"/>
                </a:solidFill>
                <a:latin typeface="Microsoft JhengHei"/>
                <a:ea typeface="Microsoft JhengHei"/>
              </a:rPr>
              <a:t>P3</a:t>
            </a:r>
          </a:p>
          <a:p>
            <a:pPr algn="ctr">
              <a:lnSpc>
                <a:spcPct val="120000"/>
              </a:lnSpc>
            </a:pPr>
            <a:r>
              <a:rPr sz="800" b="1">
                <a:solidFill>
                  <a:srgbClr val="8B3A0F"/>
                </a:solidFill>
                <a:latin typeface="Microsoft JhengHei"/>
                <a:ea typeface="Microsoft JhengHei"/>
              </a:rPr>
              <a:t>貴賓室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1554480"/>
            <a:ext cx="2743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圖例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2011679"/>
            <a:ext cx="228600" cy="2286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196596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展示／公共區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423160"/>
            <a:ext cx="228600" cy="228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237744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主動線（TA1+2）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2834639"/>
            <a:ext cx="228600" cy="22860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278892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貴賓／實品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6120"/>
            <a:ext cx="228600" cy="228600"/>
          </a:xfrm>
          <a:prstGeom prst="rect">
            <a:avLst/>
          </a:prstGeom>
          <a:solidFill>
            <a:srgbClr val="8B3A0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200400"/>
            <a:ext cx="246888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海報位置 P1~P3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114800"/>
            <a:ext cx="2743200" cy="20116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1160" y="4206240"/>
            <a:ext cx="25603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尺寸建議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457200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000">
                <a:solidFill>
                  <a:srgbClr val="4A3210"/>
                </a:solidFill>
                <a:latin typeface="Microsoft JhengHei"/>
                <a:ea typeface="Microsoft JhengHei"/>
              </a:rPr>
              <a:t>建議 100 坪</a:t>
            </a:r>
          </a:p>
          <a:p>
            <a:pPr>
              <a:lnSpc>
                <a:spcPct val="140000"/>
              </a:lnSpc>
            </a:pPr>
            <a:r>
              <a:rPr sz="1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000">
                <a:solidFill>
                  <a:srgbClr val="4A3210"/>
                </a:solidFill>
                <a:latin typeface="Microsoft JhengHei"/>
                <a:ea typeface="Microsoft JhengHei"/>
              </a:rPr>
              <a:t>層高 ≥ 3.5m</a:t>
            </a:r>
          </a:p>
          <a:p>
            <a:pPr>
              <a:lnSpc>
                <a:spcPct val="140000"/>
              </a:lnSpc>
            </a:pPr>
            <a:r>
              <a:rPr sz="1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000">
                <a:solidFill>
                  <a:srgbClr val="4A3210"/>
                </a:solidFill>
                <a:latin typeface="Microsoft JhengHei"/>
                <a:ea typeface="Microsoft JhengHei"/>
              </a:rPr>
              <a:t>正面寬 ≥ 12m</a:t>
            </a:r>
          </a:p>
          <a:p>
            <a:pPr>
              <a:lnSpc>
                <a:spcPct val="140000"/>
              </a:lnSpc>
            </a:pPr>
            <a:r>
              <a:rPr sz="1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000">
                <a:solidFill>
                  <a:srgbClr val="4A3210"/>
                </a:solidFill>
                <a:latin typeface="Microsoft JhengHei"/>
                <a:ea typeface="Microsoft JhengHei"/>
              </a:rPr>
              <a:t>停車 ≥ 8 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本平面為示意 — 實際依基地條件、預算、租金可彈性調整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九大區域功能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從入口到後場 — 每區角色明確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區域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面積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主要功能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客戶第一印象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入口接待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 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前台、簽到、轉接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親切、明亮、看到主視覺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展示中心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全案模型、主視覺、機能海報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震撼、資訊密集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實品屋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 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 房格局示範（1 間）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想像「住在這裡」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洽談區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12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 桌、議價、簽約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正式、開放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兒童區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 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子女遊戲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家庭友善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茶水區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飲品、點心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在地茶、宜蘭點心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貴賓室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 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TA3 深度討論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典雅、私密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乾淨、設備新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後場/備品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 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員工、儲藏、設備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—（不對客戶開放）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九區合計約 74 坪（含通道約 100 坪）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TA 1 返鄉換屋族動線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週末攜家帶眷、目標明確、希望 30 分鐘看完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783080" cy="402336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親子歡迎、孩子畫具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691640"/>
            <a:ext cx="1783080" cy="402336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展示中心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全案模型 + 4 房模型屋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9936" y="1691640"/>
            <a:ext cx="1783080" cy="402336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9936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6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實品屋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096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4 房格局＋兒童房示範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07024" y="1691640"/>
            <a:ext cx="1783080" cy="402336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7024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4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兒童區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184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孩子玩耍、大人放鬆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54112" y="1691640"/>
            <a:ext cx="1783080" cy="402336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54112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洽談區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學區、通勤地圖、價格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691640"/>
            <a:ext cx="1783080" cy="402336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親子合照 + 紀念品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三條動線各自獨立、互不干擾 — 接待員依客層判斷分流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TA 2 在地二代動線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下班後快速看、目標性強、預算敏感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783080" cy="402336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鄰里口碑牆、在地照片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691640"/>
            <a:ext cx="1783080" cy="402336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展示中心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千萬內定價對照表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9936" y="1691640"/>
            <a:ext cx="1783080" cy="402336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9936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6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實品屋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096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標準戶＋停車示範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07024" y="1691640"/>
            <a:ext cx="1783080" cy="402336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7024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4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洽談區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184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工作機能、通勤時間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54112" y="1691640"/>
            <a:ext cx="1783080" cy="402336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54112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出口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鼎弘玉田森活 1 完銷說明 + LINE 加好友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三條動線各自獨立、互不干擾 — 接待員依客層判斷分流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TA 3 退休置產動線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預約專人接待、慢、看完整套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783080" cy="402336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貴賓接待員導引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691640"/>
            <a:ext cx="1783080" cy="402336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貴賓室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材料樣板、庭院設計圖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9936" y="1691640"/>
            <a:ext cx="1783080" cy="402336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9936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6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實品屋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096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大地坪戶＋庭院實景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07024" y="1691640"/>
            <a:ext cx="1783080" cy="402336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7024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4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貴賓室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184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退休生活提案、家庭聚會場景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54112" y="1691640"/>
            <a:ext cx="1783080" cy="402336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54112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茶水區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宜蘭在地茶、深度交流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691640"/>
            <a:ext cx="1783080" cy="402336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1828800"/>
            <a:ext cx="1783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Step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240280"/>
            <a:ext cx="17830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971800"/>
            <a:ext cx="150876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保密議價、來日再訪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三條動線各自獨立、互不干擾 — 接待員依客層判斷分流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07　主視覺與海報安裝位置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三張 A2 機能地圖海報｜對應三條動線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001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位置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海報內容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視距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對應 TA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8001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P1 入口正面牆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 主視覺 + 案件 snapshot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3~5 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 TA 第一印象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8001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P2 接待桌後方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A2 機能光束圖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1.5~2 m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/ TA2 等待時瀏覽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8001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P3 貴賓室牆面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A2 機能光束圖 + 林先生故事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1.5~2 m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TA3 深度討論輔助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裝裱與燈光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裝裱：深棕色木框 + 玻璃（呼應金黃主視覺）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燈光：3000K 暖光｜照度 300~500 lux｜避免反光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視線高度：海報中心離地 1.4~1.6 m（成人平視）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08　家具與設備清單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建置一次性投資｜全清單已含預算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區域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家具 / 設備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預估費用 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入口接待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前台、簽到 iPad、立式燈、迎賓椅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展示中心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全案模型 (1:50)、4 房模型屋、機能海報×2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實品屋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 房格局裝潢（含廚具、衛浴、燈光）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洽談區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 套桌椅、簡報投影、文具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兒童區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地墊、繪本架、小椅子、玩具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茶水區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吧台、咖啡機、茶具、冰箱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貴賓室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沙發、咖啡桌、樣板架、藝術品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共用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空調、音響、燈光、監視器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合計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233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另含主視覺輸出、字標立體標示、戶外招牌約 30 萬｜總計約 263 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09　預算試算 — 建置 + 維運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全案 18 個月｜總投入 350~450 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16523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費用 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316523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A. 建置 (一次)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16523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  家具 / 設備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詳上頁清單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  主視覺輸出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海報、招牌、字標立體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16523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  室內裝潢工程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地坪、天花板、隔間（如需）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  小計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323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一次性投資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316523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B. 維運 (18 個月)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  房租或場地費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 萬/月 × 18 月（依地點）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16523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  水電網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0.5 萬/月 × 18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  接待人員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業主自聘，不含在此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16523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  耗材 / 飲品 / 印刷補充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0.5 萬/月 × 18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  小計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108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持續支出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31652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合計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431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10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10　下一步行動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從本簡報到看屋會館啟用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064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週次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工項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璞域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業主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06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場地確認 + 平面定稿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陪同勘地、修平面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選定地點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06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W2~3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室內設計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提案 + 修圖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預算上限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W4~6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裝潢工程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監工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06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W6~8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家具 / 設備進場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代購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W7~8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主視覺安裝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印刷、裝裱、安裝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06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員工訓練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三條動線教學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聘員工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W9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soft launch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VIP 預約看屋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06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正式開放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Phase 1 暖身期啟動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全程約 10 週｜銜接 2026 Q3 Phase 1 暖身期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璞域品牌策略｜www.pure-branding.com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