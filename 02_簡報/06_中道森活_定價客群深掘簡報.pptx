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定價 × 客群深掘簡報　Pricing-by-Persona Deep-Dive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01　核心理念：為什麼客群決定定價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02　壯圍透天買家 — 真實客層輪廓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03　三組 TA 一覽 — 從 198 筆實登推算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04　TA1 深掘：宜蘭返鄉換屋族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05　TA2 深掘：壯圍/礁溪在地二代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06　TA3 深掘：雙北退休置產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07　三組 TA × 27 戶配置矩陣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08　三組 TA × 價格落點圖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09　三組 TA × Message × 通路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10　買家旅程地圖 — 從看到買的 7 個觸點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11　上市時序：誰先賣、誰後賣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12　看屋會館動線設計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13　風險與三組 TA 的後備計畫</a:t>
            </a:r>
          </a:p>
          <a:p>
            <a:pPr>
              <a:lnSpc>
                <a:spcPct val="14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14　下一步行動清單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核心理念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為什麼客群決定定價 — 不是反過來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solidFill>
            <a:srgbClr val="FFF8E7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❌ 常見錯誤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先定總價、再找客人</a:t>
            </a:r>
          </a:p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看競品定價、平均拉中位</a:t>
            </a:r>
          </a:p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業主想賣多少 → 業主開價</a:t>
            </a:r>
          </a:p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結果：總價對的、客人卻不來</a:t>
            </a:r>
          </a:p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或客人來了、但你不知道他為什麼買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✅ 客群驅動定價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先定客人是誰、再定總價</a:t>
            </a:r>
          </a:p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客人預算與決策權重決定價格帶</a:t>
            </a:r>
          </a:p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每組客人 → 對應戶別 → 對應價格</a:t>
            </a:r>
          </a:p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結果：訂價有依據、銷售話術有目標</a:t>
            </a:r>
          </a:p>
          <a:p>
            <a:pPr>
              <a:lnSpc>
                <a:spcPct val="150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鼎弘玉田森活1 已驗證此模式（2 年完銷）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本簡報以「客群」為主軸，反推定價、戶別配置、銷售時序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壯圍透天買家 — 真實客層輪廓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 198 筆 24 個月中古成交 + 鼎弘玉田 30 筆實登交叉推算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65176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65176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8B3A0F"/>
                </a:solidFill>
                <a:latin typeface="Microsoft JhengHei"/>
                <a:ea typeface="Microsoft JhengHei"/>
              </a:rPr>
              <a:t>47%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4A3210"/>
                </a:solidFill>
                <a:latin typeface="Microsoft JhengHei"/>
                <a:ea typeface="Microsoft JhengHei"/>
              </a:rPr>
              <a:t>屋齡 ≤5 年 (近新成屋)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  <a:ea typeface="Microsoft JhengHei"/>
              </a:rPr>
              <a:t>新成屋需求最強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691640"/>
            <a:ext cx="265176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1828800"/>
            <a:ext cx="265176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8B3A0F"/>
                </a:solidFill>
                <a:latin typeface="Microsoft JhengHei"/>
                <a:ea typeface="Microsoft JhengHei"/>
              </a:rPr>
              <a:t>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69748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4A3210"/>
                </a:solidFill>
                <a:latin typeface="Microsoft JhengHei"/>
                <a:ea typeface="Microsoft JhengHei"/>
              </a:rPr>
              <a:t>建坪 40~55 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10896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  <a:ea typeface="Microsoft JhengHei"/>
              </a:rPr>
              <a:t>4 房透天主流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8464" y="1691640"/>
            <a:ext cx="265176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828800"/>
            <a:ext cx="265176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8B3A0F"/>
                </a:solidFill>
                <a:latin typeface="Microsoft JhengHei"/>
                <a:ea typeface="Microsoft JhengHei"/>
              </a:rP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269748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4A3210"/>
                </a:solidFill>
                <a:latin typeface="Microsoft JhengHei"/>
                <a:ea typeface="Microsoft JhengHei"/>
              </a:rPr>
              <a:t>成交價 800~1,100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310896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  <a:ea typeface="Microsoft JhengHei"/>
              </a:rPr>
              <a:t>千萬內為甜蜜帶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9096" y="1691640"/>
            <a:ext cx="265176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9096" y="1828800"/>
            <a:ext cx="265176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8B3A0F"/>
                </a:solidFill>
                <a:latin typeface="Microsoft JhengHei"/>
                <a:ea typeface="Microsoft JhengHei"/>
              </a:rPr>
              <a:t>65%+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269748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4A3210"/>
                </a:solidFill>
                <a:latin typeface="Microsoft JhengHei"/>
                <a:ea typeface="Microsoft JhengHei"/>
              </a:rPr>
              <a:t>宜蘭縣內買家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310896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55555"/>
                </a:solidFill>
                <a:latin typeface="Microsoft JhengHei"/>
                <a:ea typeface="Microsoft JhengHei"/>
              </a:rPr>
              <a:t>返鄉與在地比北部置產多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推論結論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壯圍的買家不是雙北「找便宜」客，是宜蘭縣自己的居住升級需求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本案 4 房 / 38~43 坪 / 透天 3 層 = 命中 78% 主流甜蜜帶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新成屋訴求要強過鄰區中古（屋齡中位 10 年） — 「新成屋」是天然賣點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返鄉、在地、退休三種動機可彼此區分，**不是同一群人**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資料源：實價登錄 198 筆 + 鼎弘玉田 30 筆 + 璞域市場推算（百分比為合理估算）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三組 TA 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 198 筆實登推算的客群結構 — 共佔市場 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TA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657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4A3210"/>
                </a:solidFill>
                <a:latin typeface="Microsoft JhengHei"/>
                <a:ea typeface="Microsoft JhengHei"/>
              </a:rPr>
              <a:t>宜蘭返鄉換屋族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365760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800" b="1">
                <a:solidFill>
                  <a:srgbClr val="4A3210"/>
                </a:solidFill>
                <a:latin typeface="Microsoft JhengHei"/>
                <a:ea typeface="Microsoft JhengHei"/>
              </a:rPr>
              <a:t>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約 12 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30~45 歲｜換屋升級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57600" cy="45720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TA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94560"/>
            <a:ext cx="3657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4A3210"/>
                </a:solidFill>
                <a:latin typeface="Microsoft JhengHei"/>
                <a:ea typeface="Microsoft JhengHei"/>
              </a:rPr>
              <a:t>壯圍/礁溪在地二代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08960"/>
            <a:ext cx="365760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800" b="1">
                <a:solidFill>
                  <a:srgbClr val="4A3210"/>
                </a:solidFill>
                <a:latin typeface="Microsoft JhengHei"/>
                <a:ea typeface="Microsoft JhengHei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48056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約 10 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9834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35~50 歲｜成家換新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3657600" cy="45720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8288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TA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94560"/>
            <a:ext cx="3657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雙北退休置產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108960"/>
            <a:ext cx="365760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800" b="1">
                <a:solidFill>
                  <a:srgbClr val="FFFFFF"/>
                </a:solidFill>
                <a:latin typeface="Microsoft JhengHei"/>
                <a:ea typeface="Microsoft JhengHei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48056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約 5 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9834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</a:rPr>
              <a:t>50+ 歲｜退休回鄉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下三頁逐一深掘每組 TA 的 persona、決策邏輯、對應戶別與價格。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TA 1 — 宜蘭返鄉換屋族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12 戶｜45% 主力客群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7280" cy="3657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</a:rPr>
              <a:t>TA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8463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林先生・34 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8463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軟體工程師・宜蘭出生・台北工作 8 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39"/>
            <a:ext cx="484632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“爸媽年紀大了，我們想搬回來。但要 4 房，孩子上小學要有自己房間。預算極限就是千萬。”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年齡帶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06908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30~45 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25112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家庭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325112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夫妻 + 1~2 子女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81144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家庭年收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581144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100~150 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37176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北部租屋月租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837176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25,000~35,000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93208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自備款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093208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200~300 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預算上限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4924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800~950 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05272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關鍵需求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605272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4 房、學區、爸媽近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61304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決策時間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861304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看屋 3~6 個月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554480"/>
            <a:ext cx="5394960" cy="219456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64592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決策權重（重要性 1~10 分）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03120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總價守千萬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148839"/>
            <a:ext cx="2560320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92840" y="2103120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350008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4 房格局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395727"/>
            <a:ext cx="2304288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36808" y="2350008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596896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子女學區/通勤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2642615"/>
            <a:ext cx="2048255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0776" y="2596896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843784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爸媽就近照顧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2889503"/>
            <a:ext cx="2048255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0776" y="2843784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090672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建材品牌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136391"/>
            <a:ext cx="1536192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68712" y="3090672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337560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車位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3383279"/>
            <a:ext cx="1024127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56648" y="3337560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886200"/>
            <a:ext cx="5394960" cy="2286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977639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對應戶別 → 12 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43484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B7、C3、D2、D3、D4、E2、F1、F2、F3、G1、G2、G3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07492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建議價格帶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440680"/>
            <a:ext cx="5029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每坪 21.0 萬｜總價 810~903 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TA1 是主力客群 — 看屋會館動線、廣告主圖、文案 message 應以此族群為核心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TA 2 — 壯圍/礁溪在地二代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10 戶｜35% 次主力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7280" cy="3657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</a:rPr>
              <a:t>TA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8463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陳小姐・41 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8463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羅東護理師・壯圍土生土長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39"/>
            <a:ext cx="484632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“老家公寓住到滿、孩子要房間。看了五結兩個案，建商都不認識。中道森活我聽過鼎弘玉田。”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年齡帶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06908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35~50 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25112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家庭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325112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夫妻 + 1~2 子女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81144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家庭年收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581144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80~130 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37176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現居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837176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公寓或老透天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93208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自備款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093208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150~250 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預算上限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4924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850~1,000 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05272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關鍵需求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605272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通勤、停車、生活機能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61304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決策時間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861304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看屋 2~4 個月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554480"/>
            <a:ext cx="5394960" cy="219456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64592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決策權重（重要性 1~10 分）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03120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通勤距離（職場）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148839"/>
            <a:ext cx="2304288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36808" y="2103120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350008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總價 &lt; 1000 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395727"/>
            <a:ext cx="2304288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36808" y="2350008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596896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自家停車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2642615"/>
            <a:ext cx="2048255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0776" y="2596896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843784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品牌信賴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2889503"/>
            <a:ext cx="1792223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24744" y="2843784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090672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學區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136391"/>
            <a:ext cx="1536192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68712" y="3090672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337560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建材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3383279"/>
            <a:ext cx="1280160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12680" y="3337560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886200"/>
            <a:ext cx="5394960" cy="22860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977639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對應戶別 → 10 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43484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A2、A3、B1、B2、B3、B4、B5、B6、C1、C2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07492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建議價格帶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440680"/>
            <a:ext cx="5029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每坪 20.5 萬｜總價 780~840 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TA2 是價格最敏感的客群 — 對應 A、B、C 幢小地坪戶（10 戶）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TA 3 — 雙北退休置產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5 戶｜20% 高客單價輔助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7280" cy="3657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</a:rPr>
              <a:t>TA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8463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王先生・58 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8463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北部退休醫師・宜蘭老家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39"/>
            <a:ext cx="484632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5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“孩子都大了，老婆愛宜蘭。想要個自己的透天，安靜、有院子，不在乎多花 100 萬。”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年齡帶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06908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50+ 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25112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家庭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325112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夫妻（子女已成年）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81144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家庭資產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581144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雄厚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37176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付款方式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837176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多為自備、低貸款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93208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自備款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093208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500 萬以上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預算上限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4924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900~1,000 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05272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關鍵需求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605272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寧靜、面寬、不要太密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61304"/>
            <a:ext cx="14630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決策時間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861304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4A3210"/>
                </a:solidFill>
                <a:latin typeface="Microsoft JhengHei"/>
                <a:ea typeface="Microsoft JhengHei"/>
              </a:rPr>
              <a:t>看屋 6~12 個月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554480"/>
            <a:ext cx="5394960" cy="219456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64592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決策權重（重要性 1~10 分）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03120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面寬感/採光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148839"/>
            <a:ext cx="2560320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92840" y="2103120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350008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社區密度低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395727"/>
            <a:ext cx="2304288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36808" y="2350008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596896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品牌信譽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2642615"/>
            <a:ext cx="2048255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0776" y="2596896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843784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總價彈性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2889503"/>
            <a:ext cx="1280160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2843784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090672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車位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136391"/>
            <a:ext cx="1792223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24744" y="3090672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337560"/>
            <a:ext cx="20116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通勤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3383279"/>
            <a:ext cx="768096" cy="164592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0616" y="3337560"/>
            <a:ext cx="4572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886200"/>
            <a:ext cx="5394960" cy="2286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977639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對應戶別 → 5 戶（大地坪／角間）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43484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A1、E3、D1、E1、F4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07492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建議價格帶（溢價 +3~5%）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440680"/>
            <a:ext cx="5029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每坪 22.0 萬｜總價 920~990 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TA3 客單價最高 — 5 戶溢價戶為全案毛利最高來源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TA × 27 戶配置矩陣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每一戶都有明確指定客群與目標價格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27 戶配置（顏色 = 客群歸屬）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A 幢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920240"/>
            <a:ext cx="777240" cy="5029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A1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92024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A2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92024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92024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A3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B 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51460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5146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B1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51460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25146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B2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51460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5146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B3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251460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25146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B4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51460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5146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B5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51460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5146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B6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51460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146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B7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0040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C 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310896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310896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C1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3108960"/>
            <a:ext cx="777240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310896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C2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310896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0" y="310896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C3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794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D 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3703320"/>
            <a:ext cx="777240" cy="5029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370332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D1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70332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03120" y="370332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D2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70332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70332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D3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370332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370332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D4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38912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E 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" y="4297680"/>
            <a:ext cx="777240" cy="5029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0" y="429768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E1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429768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429768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E2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4297680"/>
            <a:ext cx="777240" cy="5029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429768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E3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983479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F 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80160" y="489204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0" y="489204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F1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489204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03120" y="489204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F2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489204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80" y="489204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F3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39" y="4892040"/>
            <a:ext cx="777240" cy="5029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49039" y="489204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F4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57784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G 幢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80160" y="548640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80160" y="54864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G1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03120" y="548640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03120" y="54864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G2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26080" y="5486400"/>
            <a:ext cx="77724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0" y="5486400"/>
            <a:ext cx="77724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G3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035040"/>
            <a:ext cx="365760" cy="2743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598932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TA 1 返鄉換屋｜12 戶｜21.0 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6035040"/>
            <a:ext cx="365760" cy="2743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0" y="598932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TA 2 在地二代｜10 戶｜20.5 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0" y="6035040"/>
            <a:ext cx="365760" cy="2743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0" y="598932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TA 3 退休置產｜5 戶｜22.0 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配置邏輯：地坪 ≥88m² 或角間 → TA3｜小地坪 → TA2｜中型主流 → TA1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TA × 價格落點圖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三組 TA 對應三條清晰的價格帶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5120640"/>
            <a:ext cx="10058400" cy="254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08921" y="5120640"/>
            <a:ext cx="12700" cy="7315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4601" y="5257800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780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8208" y="5120640"/>
            <a:ext cx="12700" cy="7315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3888" y="5257800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820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7495" y="5120640"/>
            <a:ext cx="12700" cy="7315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3175" y="5257800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860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6782" y="5120640"/>
            <a:ext cx="12700" cy="7315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2462" y="5257800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900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06069" y="5120640"/>
            <a:ext cx="12700" cy="7315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749" y="5257800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940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55356" y="5120640"/>
            <a:ext cx="12700" cy="7315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1036" y="5257800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980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總價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50292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（萬）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8921" y="1691640"/>
            <a:ext cx="2623930" cy="77724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6081" y="1755648"/>
            <a:ext cx="234961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TA 2 在地二代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6081" y="2103120"/>
            <a:ext cx="234961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780~840 萬｜20.5 萬/坪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10 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20886" y="2651760"/>
            <a:ext cx="4067092" cy="77724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58046" y="2715768"/>
            <a:ext cx="3792772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TA 1 返鄉換屋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8046" y="3063240"/>
            <a:ext cx="3792772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810~903 萬｜21.0 萬/坪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880360"/>
            <a:ext cx="8229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12 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31426" y="3611880"/>
            <a:ext cx="3061252" cy="77724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8586" y="3675888"/>
            <a:ext cx="2786932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</a:rPr>
              <a:t>TA 3 退休置產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8586" y="4023360"/>
            <a:ext cx="2786932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920~990 萬｜22.0 萬/坪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840480"/>
            <a:ext cx="8229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5 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三條價格帶清楚分隔｜TA1 和 TA2 略有重疊，可作為「跨族群選擇」緩衝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全案 27 戶皆守在 1,000 萬內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TA × Message × 通路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每組 TA 對應的主打話術與媒體投放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07442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主打 message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主視覺角度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媒體通路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預估預算佔比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10744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1 返鄉換屋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「回宜蘭，4 房一次到位」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親子 + 庭院 + 早晨光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Facebook 雙北精準｜591 列表｜LINE 群組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50%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10744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2 在地二代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「不到千萬，住進新成屋透天」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夫妻 + 新家鑰匙 + 房間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宜蘭地方廣告｜LINE｜口碑｜社群媒體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3 退休置產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「在繁華之中，找到一個栖息」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庭院 + 花卉 + 寧靜清晨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雙北高消費精準｜591 高總價｜實體 DM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媒體預算分配建議：50% 主力（TA1）／ 30% 在地（TA2）／ 20% 高客單（TA3）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主視覺已選用花卉典雅插畫 — 同視覺可同時打 TA1（家的溫度）+ TA3（寧靜）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10　買家旅程地圖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從看到、到買、到推薦 — 7 個關鍵觸點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508760" cy="201168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508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5087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觸發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508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看到廣告／聽到口碑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1828800"/>
            <a:ext cx="1508760" cy="20116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965960"/>
            <a:ext cx="1508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377440"/>
            <a:ext cx="15087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認識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971800"/>
            <a:ext cx="1508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上 591／網站查資料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828800"/>
            <a:ext cx="1508760" cy="201168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965960"/>
            <a:ext cx="1508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77440"/>
            <a:ext cx="15087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考慮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71800"/>
            <a:ext cx="1508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加入 LINE｜接電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1828800"/>
            <a:ext cx="1508760" cy="20116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965960"/>
            <a:ext cx="1508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377440"/>
            <a:ext cx="15087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看屋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971800"/>
            <a:ext cx="1508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預約看屋會館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828800"/>
            <a:ext cx="1508760" cy="201168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965960"/>
            <a:ext cx="1508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77440"/>
            <a:ext cx="15087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比較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971800"/>
            <a:ext cx="1508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看 2~3 個競品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1828800"/>
            <a:ext cx="1508760" cy="201168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965960"/>
            <a:ext cx="1508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Step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377440"/>
            <a:ext cx="15087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決策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971800"/>
            <a:ext cx="1508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回看屋會館下訂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1828800"/>
            <a:ext cx="1508760" cy="20116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1965960"/>
            <a:ext cx="1508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Step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377440"/>
            <a:ext cx="15087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交屋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971800"/>
            <a:ext cx="1508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完工驗收→口碑推薦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每階段三組 TA 的差異化策略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0" y="4526280"/>
          <a:ext cx="11247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4577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 1 返鄉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 2 在地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 3 退休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4577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看到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廣告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LINE 群組／親友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DM／實體看板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4577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週末攜家帶眷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下班後快速看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預約專人接待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決策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夫妻共同決定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夫妻 + 父母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夫妻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看屋會館應準備：兒童區（TA1）｜在地茶水（TA2）｜貴賓室（TA3）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11　上市時序：誰先賣、誰後賣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不同 TA 的去化節奏不同 — 時序排列影響全案毛利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651760" cy="36576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Phase 1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暖身期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5 戶（TA2 為主）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2286000" cy="1463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壓低單價衝量、建立社區能見度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91640"/>
            <a:ext cx="2651760" cy="3657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82880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Phase 2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主力期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5176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Q4 2026~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Q1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9184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12 戶（TA1 為主）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840480"/>
            <a:ext cx="2286000" cy="1463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主力廣告、媒體曝光、TA1 集中收割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691640"/>
            <a:ext cx="2651760" cy="36576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82880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Phase 3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精品期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65176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Q2~Q3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29184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</a:rPr>
              <a:t>5 戶（TA3 為主）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40480"/>
            <a:ext cx="2286000" cy="1463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</a:rPr>
              <a:t>保留好戶位、品牌溢價、單客深度服務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59" y="1691640"/>
            <a:ext cx="2651760" cy="36576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59" y="182880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Phase 4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收尾期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59" y="265176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Q4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329184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5 戶（混合）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39" y="3840480"/>
            <a:ext cx="2286000" cy="1463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>
                <a:solidFill>
                  <a:srgbClr val="4A3210"/>
                </a:solidFill>
                <a:latin typeface="Microsoft JhengHei"/>
                <a:ea typeface="Microsoft JhengHei"/>
              </a:rPr>
              <a:t>口碑推薦、彈性議價、最後清盤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全案 27 戶 / 預估 4 階段 18~24 個月完銷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Phase 3 / Phase 4 的溢價戶可拉高全案毛利 3~5%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12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12　看屋會館動線設計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依三組 TA 設計三條看屋路徑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858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區域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 1 路徑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 2 路徑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 3 路徑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入口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親子歡迎牌、孩子畫具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鄰里口碑牆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貴賓接待員導引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展示中心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全案模型 + 4 房模型屋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千萬內定價對照表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材料樣板 + 庭院設計圖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實品屋體驗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房格局＋兒童房示範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標準戶＋停車示範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大地坪戶＋庭院實景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回到接待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教育主題（學區、通勤地圖）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工作機能（通勤時間、生活圈）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退休生活提案（讀書、種花、家庭聚會）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結束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親子合照 + 紀念品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本案 + 鼎弘玉田森活 1 完銷說明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保密議價、來日再訪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三條路徑可共用空間 — 接待員依客層判斷帶往不同區域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13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13　風險與三組 TA 的後備計畫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若任一組 TA 不如預期，如何補位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風險情境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影響戶數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判斷指標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補位策略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8229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返鄉客來客數低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 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Q4 2026 看屋會館 TA1 占比 &lt; 30%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加碼 FB 雙北精準｜降單價 0.5 萬｜延長銷售期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8229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TA2 在地客觀望（等降價）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Q1 2027 在地客成交率 &lt; 預期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啟動「在地優惠」package｜LINE 限時讓利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TA3 退休客遲不出手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Q2 2027 大坪數戶未售出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改為精選釋出｜或拉大坪數戶溢價 +5%｜先賣再給優惠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8229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三組 TA 都疲軟（最壞情境）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2 完銷率 &lt; 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全案重新定位｜或啟動「鼎弘 + 宗硯雙案聯賣」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三組 TA 之間有「跨族群選擇」緩衝 — TA1 戶可下移給 TA2，TA3 戶可下移給 TA1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14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14　下一步行動清單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兩週內可決策的 6 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7828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決策項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璞域建議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決策者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三組 TA 比例（45%/35%/20%）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依本簡報配置，玉田1 客層佐證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 + 璞域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 戶配置矩陣定稿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本簡報 § 7 矩陣，業主可微調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三條價格帶（20.5/21/22 萬）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本簡報 § 8 價格落點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媒體預算分配（50/30/20）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主力、媒體向北部精準投放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 + 璞域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看屋會館三路徑設計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本簡報 § 12 動線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璞域 + 接待中心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8783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1 暖身期啟動時點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建議 Q3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本簡報所有客群假設將由「宗硯輔銷資料請求清單」(05 簡報) 進一步驗證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15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